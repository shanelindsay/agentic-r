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60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6D7E"/>
    <a:srgbClr val="3EE3F4"/>
    <a:srgbClr val="4B556B"/>
    <a:srgbClr val="3A41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5"/>
    <p:restoredTop autoAdjust="0" sz="94774"/>
  </p:normalViewPr>
  <p:slideViewPr>
    <p:cSldViewPr snapToGrid="0" snapToObjects="1">
      <p:cViewPr varScale="1">
        <p:scale>
          <a:sx d="100" n="96"/>
          <a:sy d="100" n="96"/>
        </p:scale>
        <p:origin x="1066" y="77"/>
      </p:cViewPr>
      <p:guideLst>
        <p:guide orient="horz" pos="216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3" Type="http://schemas.microsoft.com/office/2015/10/relationships/revisionInfo" Target="revisionInfo.xml" /><Relationship Id="rId3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31" Type="http://schemas.openxmlformats.org/officeDocument/2006/relationships/theme" Target="theme/theme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E042B1-001A-4284-B1DE-11FEF01B8929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EEC180-F731-42C7-829F-6F7BB193300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0146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0:00-1:30. Set the capability frame and the “Ask -&gt; Plan -&gt; Do -&gt; Record”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1:30-3:00. Define agents as planner, tool-caller, executor, reporter.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3:00-4:00. Emphasise that it is R-focused but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4:00-4:20. Name systems briefly; no deep dive.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4:20-5:30. Keep brand-agnostic; students use what is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5:30-6:30. Mention without prices; institutions vary.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6:30-8:00. Teach patterns, not price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8:00-8:15. Shift from tools to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8:15-9:30. Capability and provenance, not hype.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9:30-11:00. Keep pragmatic and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11:00-11:15. From ideas to one runnable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11:15-12:30. Agents arrive “cold”; containers standardise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12:30-13:30. Show structure you will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13:30-14:45. Makefile first; upgrade later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14:45-15:00. Language-science example; tiny lawful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15:00-16:00. Keep datasets small; ship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16:00-17:00. Prepare a fallback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17:00-23:00. Small change + re-run + visible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23:00-24:30. Draft interactively, execute by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24:30-24:45. Light-touch process; keep humans engaged.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24:45-26:15. One screenshot of a PR with a small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26:15-27:45. Manuscript pulls numbers from results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27:45-28:00. Leave time buffer for Q&amp;A up to 40:00.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28:00-29:00. Close with four rules of thumb.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Timing: 29:00-40:00. Keep a slide visible with repo URL and a QR code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EEC180-F731-42C7-829F-6F7BB193300B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6EB9F-821C-3043-9B29-83C5977F5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677667"/>
            <a:ext cx="6858000" cy="1987895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3EE3F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337200-5D83-FE46-9E69-B6B1D353C6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4542318"/>
            <a:ext cx="6858000" cy="733231"/>
          </a:xfrm>
        </p:spPr>
        <p:txBody>
          <a:bodyPr>
            <a:normAutofit/>
          </a:bodyPr>
          <a:lstStyle>
            <a:lvl1pPr marL="0" indent="0" algn="ctr">
              <a:buNone/>
              <a:defRPr sz="3600" b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9A7C7-1ADA-474D-B8F0-3471D14F8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E5A21-E3F8-414E-8783-9B787CEE9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A10B1-3C39-5B4F-85DD-4E44D8BDB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337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>
                <a:solidFill>
                  <a:srgbClr val="3EE3F4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12858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Clr>
                <a:srgbClr val="266D7E"/>
              </a:buClr>
              <a:buFont typeface="Arial" panose="020B0604020202020204" pitchFamily="34" charset="0"/>
              <a:buChar char="•"/>
              <a:defRPr lang="en-GB" sz="2000" kern="1200" dirty="0">
                <a:solidFill>
                  <a:srgbClr val="266D7E"/>
                </a:solidFill>
                <a:latin typeface="Mangal" panose="02040503050203030202" pitchFamily="18" charset="0"/>
                <a:ea typeface="+mn-ea"/>
                <a:cs typeface="Mangal" panose="02040503050203030202" pitchFamily="18" charset="0"/>
              </a:defRPr>
            </a:lvl1pPr>
            <a:lvl2pPr marL="38576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Clr>
                <a:srgbClr val="4B556B"/>
              </a:buClr>
              <a:buFont typeface="Arial" panose="020B0604020202020204" pitchFamily="34" charset="0"/>
              <a:buChar char="•"/>
              <a:defRPr lang="en-GB" sz="2000" kern="1200" dirty="0">
                <a:solidFill>
                  <a:srgbClr val="266D7E"/>
                </a:solidFill>
                <a:latin typeface="Mangal" panose="02040503050203030202" pitchFamily="18" charset="0"/>
                <a:ea typeface="+mn-ea"/>
                <a:cs typeface="Mangal" panose="02040503050203030202" pitchFamily="18" charset="0"/>
              </a:defRPr>
            </a:lvl2pPr>
            <a:lvl3pPr marL="64293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Clr>
                <a:srgbClr val="4B556B"/>
              </a:buClr>
              <a:buFont typeface="Arial" panose="020B0604020202020204" pitchFamily="34" charset="0"/>
              <a:buChar char="•"/>
              <a:defRPr lang="en-GB" sz="2000" kern="1200" dirty="0">
                <a:solidFill>
                  <a:srgbClr val="266D7E"/>
                </a:solidFill>
                <a:latin typeface="Mangal" panose="02040503050203030202" pitchFamily="18" charset="0"/>
                <a:ea typeface="+mn-ea"/>
                <a:cs typeface="Mangal" panose="02040503050203030202" pitchFamily="18" charset="0"/>
              </a:defRPr>
            </a:lvl3pPr>
            <a:lvl4pPr marL="900113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Clr>
                <a:srgbClr val="4B556B"/>
              </a:buClr>
              <a:buFont typeface="Arial" panose="020B0604020202020204" pitchFamily="34" charset="0"/>
              <a:buChar char="•"/>
              <a:defRPr lang="en-GB" sz="2000" kern="1200" dirty="0">
                <a:solidFill>
                  <a:srgbClr val="266D7E"/>
                </a:solidFill>
                <a:latin typeface="Mangal" panose="02040503050203030202" pitchFamily="18" charset="0"/>
                <a:ea typeface="+mn-ea"/>
                <a:cs typeface="Mangal" panose="02040503050203030202" pitchFamily="18" charset="0"/>
              </a:defRPr>
            </a:lvl4pPr>
            <a:lvl5pPr marL="1157288" indent="-128588" algn="l" defTabSz="514350" rtl="0" eaLnBrk="1" latinLnBrk="0" hangingPunct="1">
              <a:lnSpc>
                <a:spcPct val="90000"/>
              </a:lnSpc>
              <a:spcBef>
                <a:spcPts val="281"/>
              </a:spcBef>
              <a:buClr>
                <a:srgbClr val="4B556B"/>
              </a:buClr>
              <a:buFont typeface="Arial" panose="020B0604020202020204" pitchFamily="34" charset="0"/>
              <a:buChar char="•"/>
              <a:defRPr lang="en-US" sz="2000" kern="1200" dirty="0">
                <a:solidFill>
                  <a:srgbClr val="266D7E"/>
                </a:solidFill>
                <a:latin typeface="Mangal" panose="02040503050203030202" pitchFamily="18" charset="0"/>
                <a:ea typeface="+mn-ea"/>
                <a:cs typeface="Mangal" panose="02040503050203030202" pitchFamily="18" charset="0"/>
              </a:defRPr>
            </a:lvl5pPr>
          </a:lstStyle>
          <a:p>
            <a:pPr lvl="0"/>
            <a:r>
              <a:rPr lang="en-GB" dirty="0"/>
              <a:t> Click to edit Master text styles</a:t>
            </a:r>
          </a:p>
          <a:p>
            <a:pPr lvl="1"/>
            <a:r>
              <a:rPr lang="en-GB" dirty="0"/>
              <a:t> Second level</a:t>
            </a:r>
          </a:p>
          <a:p>
            <a:pPr lvl="2"/>
            <a:r>
              <a:rPr lang="en-GB" dirty="0"/>
              <a:t> Third level</a:t>
            </a:r>
          </a:p>
          <a:p>
            <a:pPr lvl="3"/>
            <a:r>
              <a:rPr lang="en-GB" dirty="0"/>
              <a:t> Fourth level</a:t>
            </a:r>
          </a:p>
          <a:p>
            <a:pPr lvl="4"/>
            <a:r>
              <a:rPr lang="en-GB" dirty="0"/>
              <a:t> 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559EF-BAB7-0E42-9E60-A03A3B0D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BB6D2-A026-D74A-8C2A-7AD33F22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1D05D-520A-D942-8D98-B02EF8CF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0819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A6CB2-D1B6-B94A-84C1-83C65423C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ctr">
            <a:normAutofit/>
          </a:bodyPr>
          <a:lstStyle>
            <a:lvl1pPr algn="ctr">
              <a:defRPr sz="4800">
                <a:solidFill>
                  <a:srgbClr val="FFC000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16D53-A7E8-384A-A924-CB556123D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D3A5F-D224-144E-B1C6-E4C0A0C64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85A41-9B71-494D-8739-5A09F705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070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FDBC1-527D-3041-984A-EF5E7E9B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EE3F4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A7BF1-44B1-744C-AB68-4BB0A6A597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974A49-6A1E-2F48-B419-02B0A17B96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DA9989-2AC6-0F4E-ADFD-C6E06D00A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7625DC-FC15-A34E-972A-D70B8A827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BA2A21-61F6-4A4F-8B34-7B5540EF6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03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51DF4-AED1-614B-BE12-21438630C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>
            <a:lvl1pPr>
              <a:defRPr>
                <a:solidFill>
                  <a:srgbClr val="3EE3F4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3DBCAE-E5F3-8C40-9708-53662383E5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rgbClr val="FFC000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C57552-3DC5-3546-AB54-31C74D6338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43EE9D-F5D6-F54D-8468-AEFB4E7186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solidFill>
                  <a:srgbClr val="4B556B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7198EC-0E7C-514D-9D5C-E0079B57D9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9E07E0-5A9C-4B41-95FF-3BAA5F6BC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BDB537-974F-D34D-9750-CC69627A2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16F390-2D22-5048-A0FC-3FAD9329A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216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BD455-6580-E548-84D2-30E8C319B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EE3F4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437170-F497-734A-8863-A2B1D6D27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3678E-8EC0-9D40-85FD-A78B7303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410869-C0FC-2E44-824A-787E6D8B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93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CFB1ED-2AE6-5449-BE22-43836D3C4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2D820E-FB19-6E41-9F98-FE01AD877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09D32-6061-E14C-B370-0847ED7F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70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86003-B489-CA46-A95C-C1AECC0CA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7886700" cy="1112835"/>
          </a:xfrm>
        </p:spPr>
        <p:txBody>
          <a:bodyPr anchor="ctr">
            <a:normAutofit/>
          </a:bodyPr>
          <a:lstStyle>
            <a:lvl1pPr>
              <a:defRPr sz="2800">
                <a:solidFill>
                  <a:srgbClr val="3EE3F4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8BCD6-9805-9E45-9B7C-5314F41E6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9" y="1820174"/>
            <a:ext cx="3944541" cy="4040879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8BA411-2A54-A94A-B3FC-826281DBE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820174"/>
            <a:ext cx="3622982" cy="404881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1F4F16-08DB-C247-8F9D-24EA7D84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FF2B46-16CB-7E41-AD5E-4493C9285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A2BC5-3886-C647-BB53-7B07EAE78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67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682B8-C849-1F4E-8FED-86CF39DF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ctr">
            <a:normAutofit/>
          </a:bodyPr>
          <a:lstStyle>
            <a:lvl1pPr>
              <a:defRPr sz="2800">
                <a:solidFill>
                  <a:srgbClr val="4B556B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A410FE-1E10-8C4A-BD9D-9A0F6C9D1E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622F09-1B36-2F4E-8EEA-BAEEB3FD2B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A97009-98F8-D441-A078-A31F891B4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CACA9B-B433-8E45-A2A3-CD0940DBC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A396B-3342-4645-AC86-58732AAEF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401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8FF1A-8372-FB40-B0E0-0EE88C8B2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B556B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9F1868-78C4-704F-87A4-9909281CB5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64A86-EE40-7F47-8F4A-D5FD082D3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36DD5-D90C-D148-9A75-6E5EF76E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649B3-720E-654D-9610-263AC0D91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440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5E4B96-467B-A24D-9EC1-DD46EE699A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>
            <a:lvl1pPr>
              <a:defRPr>
                <a:solidFill>
                  <a:srgbClr val="4B556B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0EC97-EC51-3242-A427-B6C401F9BC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54FCF-A603-6944-ACE1-F3530AABA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D700E-B16B-6340-9BEE-2E563F927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BADE9-5F17-2E4E-A23B-A3EF5CC96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036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A6CB2-D1B6-B94A-84C1-83C65423C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ctr"/>
          <a:lstStyle>
            <a:lvl1pPr algn="ctr">
              <a:defRPr sz="3375">
                <a:solidFill>
                  <a:srgbClr val="4B556B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433C7-4F7C-4247-8FF5-1E63E18E14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 algn="ctr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16D53-A7E8-384A-A924-CB556123D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D3A5F-D224-144E-B1C6-E4C0A0C64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85A41-9B71-494D-8739-5A09F705E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Header"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2862064"/>
            <a:ext cx="8229600" cy="1143000"/>
          </a:xfrm>
        </p:spPr>
        <p:txBody>
          <a:bodyPr>
            <a:noAutofit/>
          </a:bodyPr>
          <a:lstStyle>
            <a:lvl1pPr>
              <a:defRPr sz="7200" b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ckwell" panose="02060603020205020403" pitchFamily="18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881288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plai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36912"/>
            <a:ext cx="8229600" cy="1143000"/>
          </a:xfrm>
        </p:spPr>
        <p:txBody>
          <a:bodyPr>
            <a:noAutofit/>
          </a:bodyPr>
          <a:lstStyle>
            <a:lvl1pPr>
              <a:defRPr sz="405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39558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bg>
      <p:bgPr>
        <a:solidFill>
          <a:srgbClr val="339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36912"/>
            <a:ext cx="8229600" cy="114300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5291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">
    <p:bg>
      <p:bgPr>
        <a:solidFill>
          <a:srgbClr val="FFA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36912"/>
            <a:ext cx="8229600" cy="114300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71553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hite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7568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ark grey blank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02924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ck blan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8859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F2093-8B26-439B-A49E-8C472C3EFC30}" type="datetime1">
              <a:rPr lang="en-GB" smtClean="0"/>
              <a:t>30/10/2025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16018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0D2D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39751" y="1700215"/>
            <a:ext cx="8147050" cy="4681537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7496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Your turn activity"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940564" y="332656"/>
            <a:ext cx="7519868" cy="1143000"/>
          </a:xfrm>
        </p:spPr>
        <p:txBody>
          <a:bodyPr>
            <a:normAutofit fontScale="90000"/>
          </a:bodyPr>
          <a:lstStyle>
            <a:lvl1pPr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pPr algn="l"/>
            <a:r>
              <a:rPr lang="en-US" dirty="0">
                <a:effectLst/>
                <a:latin typeface="Arial" panose="020B0604020202020204" pitchFamily="34" charset="0"/>
              </a:rPr>
              <a:t>Click to edit Master title style</a:t>
            </a:r>
            <a:endParaRPr lang="en-GB" dirty="0">
              <a:effectLst/>
              <a:latin typeface="Arial" panose="020B0604020202020204" pitchFamily="34" charset="0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11560" y="1782762"/>
            <a:ext cx="8075240" cy="4915694"/>
          </a:xfrm>
        </p:spPr>
        <p:txBody>
          <a:bodyPr/>
          <a:lstStyle>
            <a:lvl1pPr marL="0" indent="0">
              <a:buNone/>
              <a:defRPr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Clr>
                <a:srgbClr val="FFA825"/>
              </a:buClr>
              <a:buSzPct val="170000"/>
              <a:buFont typeface="Arial" panose="020B0604020202020204" pitchFamily="34" charset="0"/>
              <a:buNone/>
              <a:defRPr>
                <a:solidFill>
                  <a:srgbClr val="FF632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1230729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Blank">
    <p:bg>
      <p:bgPr>
        <a:solidFill>
          <a:srgbClr val="FFA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36912"/>
            <a:ext cx="8229600" cy="114300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87310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icture with overlai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C348A-E46C-4DCA-8E7A-6238716559C4}" type="datetimeFigureOut">
              <a:rPr lang="en-GB" smtClean="0"/>
              <a:pPr/>
              <a:t>30/10/2025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4059D-7A01-4229-9D63-F1C98F67385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138496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3" Target="../slideLayouts/slideLayout3.xml" Type="http://schemas.openxmlformats.org/officeDocument/2006/relationships/slideLayout" /><Relationship Id="rId21" Target="../slideLayouts/slideLayout21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0C2B60-7A22-834C-9BAC-D26560A3E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  <a:endParaRPr dirty="0"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7BF5EA-1FF6-EB48-B367-10F16FE226B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 Click to edit Master text styles</a:t>
            </a:r>
          </a:p>
          <a:p>
            <a:pPr lvl="1"/>
            <a:r>
              <a:rPr dirty="0" lang="en-GB"/>
              <a:t> Second level</a:t>
            </a:r>
          </a:p>
          <a:p>
            <a:pPr lvl="2"/>
            <a:r>
              <a:rPr dirty="0" lang="en-GB"/>
              <a:t> Third level</a:t>
            </a:r>
          </a:p>
          <a:p>
            <a:pPr lvl="3"/>
            <a:r>
              <a:rPr dirty="0" lang="en-GB"/>
              <a:t> Fourth level</a:t>
            </a:r>
          </a:p>
          <a:p>
            <a:pPr lvl="4"/>
            <a:r>
              <a:rPr dirty="0" lang="en-GB"/>
              <a:t> Fifth level</a:t>
            </a:r>
            <a:endParaRPr dirty="0"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F491ED-FFB7-904F-8814-ED29EAA4264A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08862-D156-2142-AB15-C9A3A7B6150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6F4AD-BD6B-CE47-88CB-D7910584936B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907448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xStyles>
    <p:titleStyle>
      <a:lvl1pPr algn="ctr" defTabSz="514350" eaLnBrk="1" hangingPunct="1" latinLnBrk="0" rtl="0">
        <a:lnSpc>
          <a:spcPct val="90000"/>
        </a:lnSpc>
        <a:spcBef>
          <a:spcPct val="0"/>
        </a:spcBef>
        <a:buNone/>
        <a:defRPr b="1" i="0" kern="1200" sz="3200">
          <a:solidFill>
            <a:srgbClr val="3EE3F4"/>
          </a:solidFill>
          <a:latin charset="0" panose="020B0702040204020203" pitchFamily="34" typeface="Segoe UI Semibold"/>
          <a:ea typeface="+mj-ea"/>
          <a:cs charset="0" panose="020B0702040204020203" pitchFamily="34" typeface="Segoe UI Semibold"/>
        </a:defRPr>
      </a:lvl1pPr>
    </p:titleStyle>
    <p:bodyStyle>
      <a:lvl1pPr algn="l" defTabSz="514350" eaLnBrk="1" hangingPunct="1" indent="-269875" latinLnBrk="0" marL="269875" rtl="0">
        <a:lnSpc>
          <a:spcPct val="90000"/>
        </a:lnSpc>
        <a:spcBef>
          <a:spcPts val="563"/>
        </a:spcBef>
        <a:buClr>
          <a:srgbClr val="266D7E"/>
        </a:buClr>
        <a:buFont charset="0" panose="020B0604020202020204" pitchFamily="34" typeface="Arial"/>
        <a:buChar char="•"/>
        <a:defRPr kern="1200" sz="2400">
          <a:solidFill>
            <a:srgbClr val="266D7E"/>
          </a:solidFill>
          <a:latin charset="0" panose="02040503050203030202" pitchFamily="18" typeface="Mangal"/>
          <a:ea typeface="+mn-ea"/>
          <a:cs charset="0" panose="02040503050203030202" pitchFamily="18" typeface="Mangal"/>
        </a:defRPr>
      </a:lvl1pPr>
      <a:lvl2pPr algn="l" defTabSz="514350" eaLnBrk="1" hangingPunct="1" indent="-190500" latinLnBrk="0" marL="447675" rtl="0">
        <a:lnSpc>
          <a:spcPct val="90000"/>
        </a:lnSpc>
        <a:spcBef>
          <a:spcPts val="281"/>
        </a:spcBef>
        <a:buClr>
          <a:srgbClr val="266D7E"/>
        </a:buClr>
        <a:buFont charset="0" panose="020B0604020202020204" pitchFamily="34" typeface="Arial"/>
        <a:buChar char="•"/>
        <a:defRPr kern="1200" sz="2400">
          <a:solidFill>
            <a:srgbClr val="266D7E"/>
          </a:solidFill>
          <a:latin charset="0" panose="02040503050203030202" pitchFamily="18" typeface="Mangal"/>
          <a:ea typeface="+mn-ea"/>
          <a:cs charset="0" panose="02040503050203030202" pitchFamily="18" typeface="Mangal"/>
        </a:defRPr>
      </a:lvl2pPr>
      <a:lvl3pPr algn="l" defTabSz="514350" eaLnBrk="1" hangingPunct="1" indent="-203200" latinLnBrk="0" marL="717550" rtl="0">
        <a:lnSpc>
          <a:spcPct val="90000"/>
        </a:lnSpc>
        <a:spcBef>
          <a:spcPts val="281"/>
        </a:spcBef>
        <a:buClr>
          <a:srgbClr val="266D7E"/>
        </a:buClr>
        <a:buFont charset="0" panose="020B0604020202020204" pitchFamily="34" typeface="Arial"/>
        <a:buChar char="•"/>
        <a:defRPr kern="1200" sz="2400">
          <a:solidFill>
            <a:srgbClr val="266D7E"/>
          </a:solidFill>
          <a:latin charset="0" panose="02040503050203030202" pitchFamily="18" typeface="Mangal"/>
          <a:ea typeface="+mn-ea"/>
          <a:cs charset="0" panose="02040503050203030202" pitchFamily="18" typeface="Mangal"/>
        </a:defRPr>
      </a:lvl3pPr>
      <a:lvl4pPr algn="l" defTabSz="514350" eaLnBrk="1" hangingPunct="1" indent="-215900" latinLnBrk="0" marL="987425" rtl="0">
        <a:lnSpc>
          <a:spcPct val="90000"/>
        </a:lnSpc>
        <a:spcBef>
          <a:spcPts val="281"/>
        </a:spcBef>
        <a:buClr>
          <a:srgbClr val="266D7E"/>
        </a:buClr>
        <a:buFont charset="0" panose="020B0604020202020204" pitchFamily="34" typeface="Arial"/>
        <a:buChar char="•"/>
        <a:defRPr kern="1200" sz="2400">
          <a:solidFill>
            <a:srgbClr val="266D7E"/>
          </a:solidFill>
          <a:latin charset="0" panose="02040503050203030202" pitchFamily="18" typeface="Mangal"/>
          <a:ea typeface="+mn-ea"/>
          <a:cs charset="0" panose="02040503050203030202" pitchFamily="18" typeface="Mangal"/>
        </a:defRPr>
      </a:lvl4pPr>
      <a:lvl5pPr algn="l" defTabSz="514350" eaLnBrk="1" hangingPunct="1" indent="-228600" latinLnBrk="0" marL="1257300" rtl="0">
        <a:lnSpc>
          <a:spcPct val="90000"/>
        </a:lnSpc>
        <a:spcBef>
          <a:spcPts val="281"/>
        </a:spcBef>
        <a:buClr>
          <a:srgbClr val="266D7E"/>
        </a:buClr>
        <a:buFont charset="0" panose="020B0604020202020204" pitchFamily="34" typeface="Arial"/>
        <a:buChar char="•"/>
        <a:defRPr kern="1200" sz="2400">
          <a:solidFill>
            <a:srgbClr val="266D7E"/>
          </a:solidFill>
          <a:latin charset="0" panose="02040503050203030202" pitchFamily="18" typeface="Mangal"/>
          <a:ea typeface="+mn-ea"/>
          <a:cs charset="0" panose="02040503050203030202" pitchFamily="18" typeface="Mangal"/>
        </a:defRPr>
      </a:lvl5pPr>
      <a:lvl6pPr algn="l" defTabSz="514350" eaLnBrk="1" hangingPunct="1" indent="-128588" latinLnBrk="0" marL="1414463" rtl="0">
        <a:lnSpc>
          <a:spcPct val="90000"/>
        </a:lnSpc>
        <a:spcBef>
          <a:spcPts val="281"/>
        </a:spcBef>
        <a:buFont charset="0" panose="020B0604020202020204" pitchFamily="34" typeface="Arial"/>
        <a:buChar char="•"/>
        <a:defRPr kern="1200" sz="1013">
          <a:solidFill>
            <a:schemeClr val="tx1"/>
          </a:solidFill>
          <a:latin typeface="+mn-lt"/>
          <a:ea typeface="+mn-ea"/>
          <a:cs typeface="+mn-cs"/>
        </a:defRPr>
      </a:lvl6pPr>
      <a:lvl7pPr algn="l" defTabSz="514350" eaLnBrk="1" hangingPunct="1" indent="-128588" latinLnBrk="0" marL="1671638" rtl="0">
        <a:lnSpc>
          <a:spcPct val="90000"/>
        </a:lnSpc>
        <a:spcBef>
          <a:spcPts val="281"/>
        </a:spcBef>
        <a:buFont charset="0" panose="020B0604020202020204" pitchFamily="34" typeface="Arial"/>
        <a:buChar char="•"/>
        <a:defRPr kern="1200" sz="1013">
          <a:solidFill>
            <a:schemeClr val="tx1"/>
          </a:solidFill>
          <a:latin typeface="+mn-lt"/>
          <a:ea typeface="+mn-ea"/>
          <a:cs typeface="+mn-cs"/>
        </a:defRPr>
      </a:lvl7pPr>
      <a:lvl8pPr algn="l" defTabSz="514350" eaLnBrk="1" hangingPunct="1" indent="-128588" latinLnBrk="0" marL="1928813" rtl="0">
        <a:lnSpc>
          <a:spcPct val="90000"/>
        </a:lnSpc>
        <a:spcBef>
          <a:spcPts val="281"/>
        </a:spcBef>
        <a:buFont charset="0" panose="020B0604020202020204" pitchFamily="34" typeface="Arial"/>
        <a:buChar char="•"/>
        <a:defRPr kern="1200" sz="1013">
          <a:solidFill>
            <a:schemeClr val="tx1"/>
          </a:solidFill>
          <a:latin typeface="+mn-lt"/>
          <a:ea typeface="+mn-ea"/>
          <a:cs typeface="+mn-cs"/>
        </a:defRPr>
      </a:lvl8pPr>
      <a:lvl9pPr algn="l" defTabSz="514350" eaLnBrk="1" hangingPunct="1" indent="-128588" latinLnBrk="0" marL="2185988" rtl="0">
        <a:lnSpc>
          <a:spcPct val="90000"/>
        </a:lnSpc>
        <a:spcBef>
          <a:spcPts val="281"/>
        </a:spcBef>
        <a:buFont charset="0" panose="020B0604020202020204" pitchFamily="34" typeface="Arial"/>
        <a:buChar char="•"/>
        <a:defRPr kern="1200" sz="1013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514350" eaLnBrk="1" hangingPunct="1" latinLnBrk="0" marL="0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1pPr>
      <a:lvl2pPr algn="l" defTabSz="514350" eaLnBrk="1" hangingPunct="1" latinLnBrk="0" marL="257175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2pPr>
      <a:lvl3pPr algn="l" defTabSz="514350" eaLnBrk="1" hangingPunct="1" latinLnBrk="0" marL="514350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3pPr>
      <a:lvl4pPr algn="l" defTabSz="514350" eaLnBrk="1" hangingPunct="1" latinLnBrk="0" marL="771525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4pPr>
      <a:lvl5pPr algn="l" defTabSz="514350" eaLnBrk="1" hangingPunct="1" latinLnBrk="0" marL="1028700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5pPr>
      <a:lvl6pPr algn="l" defTabSz="514350" eaLnBrk="1" hangingPunct="1" latinLnBrk="0" marL="1285875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6pPr>
      <a:lvl7pPr algn="l" defTabSz="514350" eaLnBrk="1" hangingPunct="1" latinLnBrk="0" marL="1543050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7pPr>
      <a:lvl8pPr algn="l" defTabSz="514350" eaLnBrk="1" hangingPunct="1" latinLnBrk="0" marL="1800225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8pPr>
      <a:lvl9pPr algn="l" defTabSz="514350" eaLnBrk="1" hangingPunct="1" latinLnBrk="0" marL="2057400" rtl="0">
        <a:defRPr kern="1200" sz="1013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Relationship Id="rId3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6EB9F-821C-3043-9B29-83C5977F5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677667"/>
            <a:ext cx="6858000" cy="1987895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Agentic AI for reproducible language science: from prompt to pipeline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337200-5D83-FE46-9E69-B6B1D353C69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143000" y="4542318"/>
            <a:ext cx="6858000" cy="733231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Why agents now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chat to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Agents plan multi-step work.</a:t>
            </a:r>
          </a:p>
          <a:p>
            <a:pPr lvl="0"/>
            <a:r>
              <a:rPr/>
              <a:t>They call external tools.</a:t>
            </a:r>
          </a:p>
          <a:p>
            <a:pPr lvl="0"/>
            <a:r>
              <a:rPr/>
              <a:t>They run code and scripts.</a:t>
            </a:r>
          </a:p>
          <a:p>
            <a:pPr lvl="0"/>
            <a:r>
              <a:rPr/>
              <a:t>They record actions and results.</a:t>
            </a:r>
          </a:p>
          <a:p>
            <a:pPr lvl="0"/>
            <a:r>
              <a:rPr/>
              <a:t>Capability expands; speed increases. Simple agent loop schematic (non-generative)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will learn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Where agents add capability.</a:t>
            </a:r>
          </a:p>
          <a:p>
            <a:pPr lvl="0"/>
            <a:r>
              <a:rPr/>
              <a:t>Pragmatic pitfalls and mitigations.</a:t>
            </a:r>
          </a:p>
          <a:p>
            <a:pPr lvl="0"/>
            <a:r>
              <a:rPr/>
              <a:t>Run a containerised R workflow.</a:t>
            </a:r>
          </a:p>
          <a:p>
            <a:pPr lvl="0"/>
            <a:r>
              <a:rPr/>
              <a:t>Use GitHub for visible review.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Landscape and access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Systems you may encounter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Claude Code (web/IDE).</a:t>
            </a:r>
          </a:p>
          <a:p>
            <a:pPr lvl="0"/>
            <a:r>
              <a:rPr/>
              <a:t>Cursor (IDE agent mode).</a:t>
            </a:r>
          </a:p>
          <a:p>
            <a:pPr lvl="0"/>
            <a:r>
              <a:rPr/>
              <a:t>Coding agents in editors.</a:t>
            </a:r>
          </a:p>
          <a:p>
            <a:pPr lvl="0"/>
            <a:r>
              <a:rPr/>
              <a:t>Choose what your lab supports. Claude Code, Cursor, editor logos (insert non-generative logos)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China-aware options (one slide)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Qwen models (AliCloud).</a:t>
            </a:r>
          </a:p>
          <a:p>
            <a:pPr lvl="0"/>
            <a:r>
              <a:rPr/>
              <a:t>Kimi (Moonshot AI).</a:t>
            </a:r>
          </a:p>
          <a:p>
            <a:pPr lvl="0"/>
            <a:r>
              <a:rPr/>
              <a:t>GLM (Zhipu AI).</a:t>
            </a:r>
          </a:p>
          <a:p>
            <a:pPr lvl="0"/>
            <a:r>
              <a:rPr/>
              <a:t>ERNIE, Hunyuan, Doubao. Provider logos grid (non-generative)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Thinking about costs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Three patterns: subscription, tokens, editor.</a:t>
            </a:r>
          </a:p>
          <a:p>
            <a:pPr lvl="0"/>
            <a:r>
              <a:rPr/>
              <a:t>Iterations drive spend.</a:t>
            </a:r>
          </a:p>
          <a:p>
            <a:pPr lvl="0"/>
            <a:r>
              <a:rPr/>
              <a:t>Keep prompts short.</a:t>
            </a:r>
          </a:p>
          <a:p>
            <a:pPr lvl="0"/>
            <a:r>
              <a:rPr/>
              <a:t>Prefer small models for drafts. Token cost formula schematic (non-generative)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Promise and pitfalls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better 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Attempt larger tasks.</a:t>
            </a:r>
          </a:p>
          <a:p>
            <a:pPr lvl="0"/>
            <a:r>
              <a:rPr/>
              <a:t>Explore alternatives quickly.</a:t>
            </a:r>
          </a:p>
          <a:p>
            <a:pPr lvl="0"/>
            <a:r>
              <a:rPr/>
              <a:t>Faster first drafts.</a:t>
            </a:r>
          </a:p>
          <a:p>
            <a:pPr lvl="0"/>
            <a:r>
              <a:rPr/>
              <a:t>Traceable, recorded changes.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you will meet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Overreach beyond expertise.</a:t>
            </a:r>
          </a:p>
          <a:p>
            <a:pPr lvl="0"/>
            <a:r>
              <a:rPr/>
              <a:t>Skill drift if you stop reading.</a:t>
            </a:r>
          </a:p>
          <a:p>
            <a:pPr lvl="0"/>
            <a:r>
              <a:rPr/>
              <a:t>Cost creep from many runs.</a:t>
            </a:r>
          </a:p>
          <a:p>
            <a:pPr lvl="0"/>
            <a:r>
              <a:rPr/>
              <a:t>Mitigate: small tasks, tests, review.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Methods tutorial (R-focused)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containers help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Predictable start each run.</a:t>
            </a:r>
          </a:p>
          <a:p>
            <a:pPr lvl="0"/>
            <a:r>
              <a:rPr/>
              <a:t>Self-documenting projects win.</a:t>
            </a:r>
          </a:p>
          <a:p>
            <a:pPr lvl="0"/>
            <a:r>
              <a:rPr/>
              <a:t>If a stranger can run it…</a:t>
            </a:r>
          </a:p>
          <a:p>
            <a:pPr lvl="0"/>
            <a:r>
              <a:rPr/>
              <a:t>…an agent can run it. Container concept icon (non-generative)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 skeleton (demo)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README with quickstart.</a:t>
            </a:r>
          </a:p>
          <a:p>
            <a:pPr lvl="0"/>
            <a:r>
              <a:rPr/>
              <a:t>Makefile orchestration.</a:t>
            </a:r>
          </a:p>
          <a:p>
            <a:pPr lvl="0"/>
            <a:r>
              <a:rPr/>
              <a:t>R scripts for steps.</a:t>
            </a:r>
          </a:p>
          <a:p>
            <a:pPr lvl="0"/>
            <a:r>
              <a:rPr/>
              <a:t>Raw, processed, results folders.</a:t>
            </a:r>
          </a:p>
          <a:p>
            <a:pPr lvl="0"/>
            <a:r>
              <a:rPr/>
              <a:t>Wrapper script to run R. Repository tree schematic (non-generative)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pipeline, end-to-end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Simple Makefile rules.</a:t>
            </a:r>
          </a:p>
          <a:p>
            <a:pPr lvl="0"/>
            <a:r>
              <a:rPr/>
              <a:t>Deterministic script runs.</a:t>
            </a:r>
          </a:p>
          <a:p>
            <a:pPr lvl="0"/>
            <a:r>
              <a:rPr/>
              <a:t>Diffable result files.</a:t>
            </a:r>
          </a:p>
          <a:p>
            <a:pPr lvl="0"/>
            <a:r>
              <a:rPr/>
              <a:t>Upgrade path exists later.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Example - lexical decision (Option A)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Task and data (tiny slices)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Behaviour: lexical decision RTs.</a:t>
            </a:r>
          </a:p>
          <a:p>
            <a:pPr lvl="0"/>
            <a:r>
              <a:rPr/>
              <a:t>Predictors: frequency, strokes.</a:t>
            </a:r>
          </a:p>
          <a:p>
            <a:pPr lvl="0"/>
            <a:r>
              <a:rPr/>
              <a:t>Join SCLP with CLD rows.</a:t>
            </a:r>
          </a:p>
          <a:p>
            <a:pPr lvl="0"/>
            <a:r>
              <a:rPr/>
              <a:t>Aim: small, fast, illustrative. Lexical decision schematic (non-generative)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Demo: what you will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Clone the repo.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make</a:t>
            </a:r>
            <a:r>
              <a:rPr/>
              <a:t> once.</a:t>
            </a:r>
          </a:p>
          <a:p>
            <a:pPr lvl="0"/>
            <a:r>
              <a:rPr/>
              <a:t>View </a:t>
            </a:r>
            <a:r>
              <a:rPr>
                <a:latin typeface="Courier"/>
              </a:rPr>
              <a:t>metrics.yml</a:t>
            </a:r>
            <a:r>
              <a:rPr/>
              <a:t>.</a:t>
            </a:r>
          </a:p>
          <a:p>
            <a:pPr lvl="0"/>
            <a:r>
              <a:rPr/>
              <a:t>Keep a short screencast.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steps (5-6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Run </a:t>
            </a:r>
            <a:r>
              <a:rPr>
                <a:latin typeface="Courier"/>
              </a:rPr>
              <a:t>make</a:t>
            </a:r>
            <a:r>
              <a:rPr/>
              <a:t> to baseline.</a:t>
            </a:r>
          </a:p>
          <a:p>
            <a:pPr lvl="0"/>
            <a:r>
              <a:rPr/>
              <a:t>Agent adds one predictor.</a:t>
            </a:r>
          </a:p>
          <a:p>
            <a:pPr lvl="0"/>
            <a:r>
              <a:rPr/>
              <a:t>Re-run </a:t>
            </a:r>
            <a:r>
              <a:rPr>
                <a:latin typeface="Courier"/>
              </a:rPr>
              <a:t>make</a:t>
            </a:r>
            <a:r>
              <a:rPr/>
              <a:t> deterministically.</a:t>
            </a:r>
          </a:p>
          <a:p>
            <a:pPr lvl="0"/>
            <a:r>
              <a:rPr/>
              <a:t>Show diff in </a:t>
            </a:r>
            <a:r>
              <a:rPr>
                <a:latin typeface="Courier"/>
              </a:rPr>
              <a:t>metrics.yml</a:t>
            </a:r>
            <a:r>
              <a:rPr/>
              <a:t>.</a:t>
            </a:r>
          </a:p>
          <a:p>
            <a:pPr lvl="0"/>
            <a:r>
              <a:rPr/>
              <a:t>Commit and open a PR.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Interactive vs script-based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Draft with an agent.</a:t>
            </a:r>
          </a:p>
          <a:p>
            <a:pPr lvl="0"/>
            <a:r>
              <a:rPr/>
              <a:t>Execute via scripts.</a:t>
            </a:r>
          </a:p>
          <a:p>
            <a:pPr lvl="0"/>
            <a:r>
              <a:rPr/>
              <a:t>Scripts beat ad-hoc REPL.</a:t>
            </a:r>
          </a:p>
          <a:p>
            <a:pPr lvl="0"/>
            <a:r>
              <a:rPr/>
              <a:t>Reproducibility first.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GitHub basics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human in the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Branch -&gt; PR -&gt; review.</a:t>
            </a:r>
          </a:p>
          <a:p>
            <a:pPr lvl="0"/>
            <a:r>
              <a:rPr/>
              <a:t>Scoped commits with notes.</a:t>
            </a:r>
          </a:p>
          <a:p>
            <a:pPr lvl="0"/>
            <a:r>
              <a:rPr/>
              <a:t>Small, reviewable changes.</a:t>
            </a:r>
          </a:p>
          <a:p>
            <a:pPr lvl="0"/>
            <a:r>
              <a:rPr/>
              <a:t>Merge with confidence. PR with small YAML diff (non-generative)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End-to-end reporting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Results as CSV/YAML.</a:t>
            </a:r>
          </a:p>
          <a:p>
            <a:pPr lvl="0"/>
            <a:r>
              <a:rPr/>
              <a:t>Manuscript reads tables.</a:t>
            </a:r>
          </a:p>
          <a:p>
            <a:pPr lvl="0"/>
            <a:r>
              <a:rPr/>
              <a:t>Changes stay transparent. Manuscript numbers from tables schematic (non-generative)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 Header: Wrap-up and questions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B24F9-04F1-C843-9D71-56C5C024552B}"/>
              </a:ext>
            </a:extLst>
          </p:cNvPr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Agents expand capability.</a:t>
            </a:r>
          </a:p>
          <a:p>
            <a:pPr lvl="0"/>
            <a:r>
              <a:rPr/>
              <a:t>Structure keeps them honest.</a:t>
            </a:r>
          </a:p>
          <a:p>
            <a:pPr lvl="0"/>
            <a:r>
              <a:rPr/>
              <a:t>Container + Makefile + scripts.</a:t>
            </a:r>
          </a:p>
          <a:p>
            <a:pPr lvl="0"/>
            <a:r>
              <a:rPr/>
              <a:t>GitHub review for trust.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B8E45-0772-954C-8D4B-6E6808DFE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Q&amp;A</a:t>
            </a:r>
          </a:p>
        </p:txBody>
      </p:sp>
      <p:pic>
        <p:nvPicPr>
          <p:cNvPr descr="placehold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155700" y="1816100"/>
            <a:ext cx="6819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22300" y="5651500"/>
            <a:ext cx="78867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Repo URL / QR code placeholder (non-generative)</a:t>
            </a:r>
          </a:p>
        </p:txBody>
      </p:sp>
    </p:spTree>
  </p:cSld>
</p:sld>
</file>

<file path=ppt/theme/theme1.xml><?xml version="1.0" encoding="utf-8"?>
<a:theme xmlns:a="http://schemas.openxmlformats.org/drawingml/2006/main" name="Nord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d-theme.pptx" id="{59E970D9-FE21-457B-9A76-EF30135C5AA9}" vid="{6B5E3EBF-FC8E-4B13-ABCC-6AF1C659398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Words>545</Words>
  <Application>Microsoft Office PowerPoint</Application>
  <PresentationFormat>On-screen Show (4:3)</PresentationFormat>
  <Paragraphs>135</Paragraphs>
  <Slides>32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Arial</vt:lpstr>
      <vt:lpstr>Calibri</vt:lpstr>
      <vt:lpstr>Mangal</vt:lpstr>
      <vt:lpstr>Rockwell</vt:lpstr>
      <vt:lpstr>Segoe UI Semibold</vt:lpstr>
      <vt:lpstr>Nord</vt:lpstr>
      <vt:lpstr>Slides 1</vt:lpstr>
      <vt:lpstr>Test 1</vt:lpstr>
      <vt:lpstr>Section</vt:lpstr>
      <vt:lpstr>Columns</vt:lpstr>
      <vt:lpstr>Types of fruit</vt:lpstr>
      <vt:lpstr>Types of fruit</vt:lpstr>
      <vt:lpstr>Apples</vt:lpstr>
      <vt:lpstr>Comparison</vt:lpstr>
      <vt:lpstr>Statistical test</vt:lpstr>
      <vt:lpstr>PowerPoint Presentation</vt:lpstr>
      <vt:lpstr>Sampling Distribution</vt:lpstr>
      <vt:lpstr>Statistic vs. Parameter (1)</vt:lpstr>
      <vt:lpstr>Statistical hypotheses</vt:lpstr>
      <vt:lpstr>p-values and supporting hypotheses</vt:lpstr>
      <vt:lpstr>PowerPoint Presentation</vt:lpstr>
      <vt:lpstr>Confidence interval</vt:lpstr>
      <vt:lpstr>Estimation</vt:lpstr>
      <vt:lpstr>PowerPoint Presentation</vt:lpstr>
      <vt:lpstr>Q: Margin of Error</vt:lpstr>
      <vt:lpstr>Q: SE and uncertainty</vt:lpstr>
      <vt:lpstr>Q: Hypothesis testing</vt:lpstr>
      <vt:lpstr>Your task</vt:lpstr>
      <vt:lpstr>Plan</vt:lpstr>
      <vt:lpstr>Section transition</vt:lpstr>
      <vt:lpstr>Basket makers</vt:lpstr>
      <vt:lpstr>Plan</vt:lpstr>
      <vt:lpstr>PowerPoint Presentation</vt:lpstr>
      <vt:lpstr>See you next week</vt:lpstr>
      <vt:lpstr>Example</vt:lpstr>
      <vt:lpstr>Interesting quote</vt:lpstr>
      <vt:lpstr>PowerPoint Presentation</vt:lpstr>
      <vt:lpstr>http://www.flaticon.com/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reproducible language science: from prompt to pipeline</dc:title>
  <dc:creator/>
  <cp:keywords/>
  <dcterms:created xsi:type="dcterms:W3CDTF">2025-10-30T19:07:15Z</dcterms:created>
  <dcterms:modified xsi:type="dcterms:W3CDTF">2025-10-30T19:07:15Z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