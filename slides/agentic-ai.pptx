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 snapToObjects="1">
      <p:cViewPr varScale="1">
        <p:scale>
          <a:sx d="100" n="124"/>
          <a:sy d="100" n="124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29" Type="http://schemas.openxmlformats.org/officeDocument/2006/relationships/printerSettings" Target="printerSettings/printerSettings1.bin" /><Relationship Id="rId30" Type="http://schemas.openxmlformats.org/officeDocument/2006/relationships/presProps" Target="presProps.xml" /><Relationship Id="rId31" Type="http://schemas.openxmlformats.org/officeDocument/2006/relationships/viewProps" Target="viewProps.xml" /><Relationship Id="rId32" Type="http://schemas.openxmlformats.org/officeDocument/2006/relationships/theme" Target="theme/theme1.xml" /><Relationship Id="rId33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0:00-1:30. Set the capability frame and the “Ask -&gt; Plan -&gt; Do -&gt; Record”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1:30-3:00. Define agents as planner, tool-caller, executor, reporter.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3:00-4:00. Emphasise that it is R-focused but portable.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4:00-4:20. Name systems briefly; no deep dive.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4:20-5:30. Keep brand-agnostic; students use what is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5:30-6:30. Mention without prices; institutions vary.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6:30-8:00. Teach patterns, not price 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8:00-8:15. Shift from tools to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8:15-9:30. Capability and provenance, not hype.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9:30-11:00. Keep pragmatic and actionable.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11:00-11:15. From ideas to one runnable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11:15-12:30. Agents arrive “cold”; containers standardise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12:30-13:30. Show structure you will actually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13:30-14:45. Makefile first; upgrade later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14:45-15:00. Language-science example; tiny lawful slices.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15:00-16:00. Keep datasets small; ship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16:00-17:00. Prepare a fallback recording.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17:00-23:00. Small change + re-run + visible diff.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23:00-24:30. Draft interactively, execute by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24:30-24:45. Light-touch process; keep humans engaged.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24:45-26:15. One screenshot of a PR with a small diff.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26:15-27:45. Manuscript pulls numbers from results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27:45-28:00. Leave time buffer for Q&amp;A up to 40:00.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28:00-29:00. Close with four rules of thumb.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Timing: 29:00-40:00. Keep a slide visible with repo URL and a QR code placeholder.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Agentic AI for reproducible language science: from prompt to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Header: Why agents now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chat to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Agents plan multi-step work.</a:t>
            </a:r>
          </a:p>
          <a:p>
            <a:pPr lvl="0"/>
            <a:r>
              <a:rPr/>
              <a:t>They call external tools.</a:t>
            </a:r>
          </a:p>
          <a:p>
            <a:pPr lvl="0"/>
            <a:r>
              <a:rPr/>
              <a:t>They run code and scripts.</a:t>
            </a:r>
          </a:p>
          <a:p>
            <a:pPr lvl="0"/>
            <a:r>
              <a:rPr/>
              <a:t>They record actions and results.</a:t>
            </a:r>
          </a:p>
          <a:p>
            <a:pPr lvl="0"/>
            <a:r>
              <a:rPr/>
              <a:t>Capability expands; speed increases. Simple agent loop schematic (non-generative)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will learn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Where agents add capability.</a:t>
            </a:r>
          </a:p>
          <a:p>
            <a:pPr lvl="0"/>
            <a:r>
              <a:rPr/>
              <a:t>Pragmatic pitfalls and mitigations.</a:t>
            </a:r>
          </a:p>
          <a:p>
            <a:pPr lvl="0"/>
            <a:r>
              <a:rPr/>
              <a:t>Run a containerised R workflow.</a:t>
            </a:r>
          </a:p>
          <a:p>
            <a:pPr lvl="0"/>
            <a:r>
              <a:rPr/>
              <a:t>Use GitHub for visible review.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Header: Landscape and access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Systems you may encounter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Claude Code (web/IDE).</a:t>
            </a:r>
          </a:p>
          <a:p>
            <a:pPr lvl="0"/>
            <a:r>
              <a:rPr/>
              <a:t>Cursor (IDE agent mode).</a:t>
            </a:r>
          </a:p>
          <a:p>
            <a:pPr lvl="0"/>
            <a:r>
              <a:rPr/>
              <a:t>Coding agents in editors.</a:t>
            </a:r>
          </a:p>
          <a:p>
            <a:pPr lvl="0"/>
            <a:r>
              <a:rPr/>
              <a:t>Choose what your lab supports. Claude Code, Cursor, editor logos (insert non-generative logos)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China-aware options (one slide)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Qwen models (AliCloud).</a:t>
            </a:r>
          </a:p>
          <a:p>
            <a:pPr lvl="0"/>
            <a:r>
              <a:rPr/>
              <a:t>Kimi (Moonshot AI).</a:t>
            </a:r>
          </a:p>
          <a:p>
            <a:pPr lvl="0"/>
            <a:r>
              <a:rPr/>
              <a:t>GLM (Zhipu AI).</a:t>
            </a:r>
          </a:p>
          <a:p>
            <a:pPr lvl="0"/>
            <a:r>
              <a:rPr/>
              <a:t>ERNIE, Hunyuan, Doubao. Provider logos grid (non-generative)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Thinking about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Three patterns: subscription, tokens, editor.</a:t>
            </a:r>
          </a:p>
          <a:p>
            <a:pPr lvl="0"/>
            <a:r>
              <a:rPr/>
              <a:t>Iterations drive spend.</a:t>
            </a:r>
          </a:p>
          <a:p>
            <a:pPr lvl="0"/>
            <a:r>
              <a:rPr/>
              <a:t>Keep prompts short.</a:t>
            </a:r>
          </a:p>
          <a:p>
            <a:pPr lvl="0"/>
            <a:r>
              <a:rPr/>
              <a:t>Prefer small models for drafts. Token cost formula schematic (non-generative)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Header: Promise and pitfalls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gets better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Attempt larger tasks.</a:t>
            </a:r>
          </a:p>
          <a:p>
            <a:pPr lvl="0"/>
            <a:r>
              <a:rPr/>
              <a:t>Explore alternatives quickly.</a:t>
            </a:r>
          </a:p>
          <a:p>
            <a:pPr lvl="0"/>
            <a:r>
              <a:rPr/>
              <a:t>Faster first drafts.</a:t>
            </a:r>
          </a:p>
          <a:p>
            <a:pPr lvl="0"/>
            <a:r>
              <a:rPr/>
              <a:t>Traceable, recorded changes.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 you will meet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Overreach beyond expertise.</a:t>
            </a:r>
          </a:p>
          <a:p>
            <a:pPr lvl="0"/>
            <a:r>
              <a:rPr/>
              <a:t>Skill drift if you stop reading.</a:t>
            </a:r>
          </a:p>
          <a:p>
            <a:pPr lvl="0"/>
            <a:r>
              <a:rPr/>
              <a:t>Cost creep from many runs.</a:t>
            </a:r>
          </a:p>
          <a:p>
            <a:pPr lvl="0"/>
            <a:r>
              <a:rPr/>
              <a:t>Mitigate: small tasks, tests, review.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Header: Methods tutorial (R-focused)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containers help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Predictable start each run.</a:t>
            </a:r>
          </a:p>
          <a:p>
            <a:pPr lvl="0"/>
            <a:r>
              <a:rPr/>
              <a:t>Self-documenting projects win.</a:t>
            </a:r>
          </a:p>
          <a:p>
            <a:pPr lvl="0"/>
            <a:r>
              <a:rPr/>
              <a:t>If a stranger can run it…</a:t>
            </a:r>
          </a:p>
          <a:p>
            <a:pPr lvl="0"/>
            <a:r>
              <a:rPr/>
              <a:t>…an agent can run it. Container concept icon (non-generative)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Repo skeleton (demo)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README with quickstart.</a:t>
            </a:r>
          </a:p>
          <a:p>
            <a:pPr lvl="0"/>
            <a:r>
              <a:rPr/>
              <a:t>Makefile orchestration.</a:t>
            </a:r>
          </a:p>
          <a:p>
            <a:pPr lvl="0"/>
            <a:r>
              <a:rPr/>
              <a:t>R scripts for steps.</a:t>
            </a:r>
          </a:p>
          <a:p>
            <a:pPr lvl="0"/>
            <a:r>
              <a:rPr/>
              <a:t>Raw, processed, results folders.</a:t>
            </a:r>
          </a:p>
          <a:p>
            <a:pPr lvl="0"/>
            <a:r>
              <a:rPr/>
              <a:t>Wrapper script to run R. Repository tree schematic (non-generative)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pipeline, end-to-end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Simple Makefile rules.</a:t>
            </a:r>
          </a:p>
          <a:p>
            <a:pPr lvl="0"/>
            <a:r>
              <a:rPr/>
              <a:t>Deterministic script runs.</a:t>
            </a:r>
          </a:p>
          <a:p>
            <a:pPr lvl="0"/>
            <a:r>
              <a:rPr/>
              <a:t>Diffable result files.</a:t>
            </a:r>
          </a:p>
          <a:p>
            <a:pPr lvl="0"/>
            <a:r>
              <a:rPr/>
              <a:t>Upgrade path exists later.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Header: Example - lexical decision (Option A)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Task and data (tiny slices)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Behaviour: lexical decision RTs.</a:t>
            </a:r>
          </a:p>
          <a:p>
            <a:pPr lvl="0"/>
            <a:r>
              <a:rPr/>
              <a:t>Predictors: frequency, strokes.</a:t>
            </a:r>
          </a:p>
          <a:p>
            <a:pPr lvl="0"/>
            <a:r>
              <a:rPr/>
              <a:t>Join SCLP with CLD rows.</a:t>
            </a:r>
          </a:p>
          <a:p>
            <a:pPr lvl="0"/>
            <a:r>
              <a:rPr/>
              <a:t>Aim: small, fast, illustrative. Lexical decision schematic (non-generative)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Demo: what you will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Clone the repo.</a:t>
            </a:r>
          </a:p>
          <a:p>
            <a:pPr lvl="0"/>
            <a:r>
              <a:rPr/>
              <a:t>Run </a:t>
            </a:r>
            <a:r>
              <a:rPr>
                <a:latin typeface="Courier"/>
              </a:rPr>
              <a:t>make</a:t>
            </a:r>
            <a:r>
              <a:rPr/>
              <a:t> once.</a:t>
            </a:r>
          </a:p>
          <a:p>
            <a:pPr lvl="0"/>
            <a:r>
              <a:rPr/>
              <a:t>View </a:t>
            </a:r>
            <a:r>
              <a:rPr>
                <a:latin typeface="Courier"/>
              </a:rPr>
              <a:t>metrics.yml</a:t>
            </a:r>
            <a:r>
              <a:rPr/>
              <a:t>.</a:t>
            </a:r>
          </a:p>
          <a:p>
            <a:pPr lvl="0"/>
            <a:r>
              <a:rPr/>
              <a:t>Keep a short screencast.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 steps (5-6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Run </a:t>
            </a:r>
            <a:r>
              <a:rPr>
                <a:latin typeface="Courier"/>
              </a:rPr>
              <a:t>make</a:t>
            </a:r>
            <a:r>
              <a:rPr/>
              <a:t> to baseline.</a:t>
            </a:r>
          </a:p>
          <a:p>
            <a:pPr lvl="0"/>
            <a:r>
              <a:rPr/>
              <a:t>Agent adds one predictor.</a:t>
            </a:r>
          </a:p>
          <a:p>
            <a:pPr lvl="0"/>
            <a:r>
              <a:rPr/>
              <a:t>Re-run </a:t>
            </a:r>
            <a:r>
              <a:rPr>
                <a:latin typeface="Courier"/>
              </a:rPr>
              <a:t>make</a:t>
            </a:r>
            <a:r>
              <a:rPr/>
              <a:t> deterministically.</a:t>
            </a:r>
          </a:p>
          <a:p>
            <a:pPr lvl="0"/>
            <a:r>
              <a:rPr/>
              <a:t>Show diff in </a:t>
            </a:r>
            <a:r>
              <a:rPr>
                <a:latin typeface="Courier"/>
              </a:rPr>
              <a:t>metrics.yml</a:t>
            </a:r>
            <a:r>
              <a:rPr/>
              <a:t>.</a:t>
            </a:r>
          </a:p>
          <a:p>
            <a:pPr lvl="0"/>
            <a:r>
              <a:rPr/>
              <a:t>Commit and open a PR.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Interactive vs script-based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Draft with an agent.</a:t>
            </a:r>
          </a:p>
          <a:p>
            <a:pPr lvl="0"/>
            <a:r>
              <a:rPr/>
              <a:t>Execute via scripts.</a:t>
            </a:r>
          </a:p>
          <a:p>
            <a:pPr lvl="0"/>
            <a:r>
              <a:rPr/>
              <a:t>Scripts beat ad-hoc REPL.</a:t>
            </a:r>
          </a:p>
          <a:p>
            <a:pPr lvl="0"/>
            <a:r>
              <a:rPr/>
              <a:t>Reproducibility first.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Header: GitHub basics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the human in the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Branch -&gt; PR -&gt; review.</a:t>
            </a:r>
          </a:p>
          <a:p>
            <a:pPr lvl="0"/>
            <a:r>
              <a:rPr/>
              <a:t>Scoped commits with notes.</a:t>
            </a:r>
          </a:p>
          <a:p>
            <a:pPr lvl="0"/>
            <a:r>
              <a:rPr/>
              <a:t>Small, reviewable changes.</a:t>
            </a:r>
          </a:p>
          <a:p>
            <a:pPr lvl="0"/>
            <a:r>
              <a:rPr/>
              <a:t>Merge with confidence. PR with small YAML diff (non-generative)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End-to-end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Results as CSV/YAML.</a:t>
            </a:r>
          </a:p>
          <a:p>
            <a:pPr lvl="0"/>
            <a:r>
              <a:rPr/>
              <a:t>Manuscript reads tables.</a:t>
            </a:r>
          </a:p>
          <a:p>
            <a:pPr lvl="0"/>
            <a:r>
              <a:rPr/>
              <a:t>Changes stay transparent. Manuscript numbers from tables schematic (non-generative)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Header: Wrap-up and questions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Take-home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Agents expand capability.</a:t>
            </a:r>
          </a:p>
          <a:p>
            <a:pPr lvl="0"/>
            <a:r>
              <a:rPr/>
              <a:t>Structure keeps them honest.</a:t>
            </a:r>
          </a:p>
          <a:p>
            <a:pPr lvl="0"/>
            <a:r>
              <a:rPr/>
              <a:t>Container + Makefile + scripts.</a:t>
            </a:r>
          </a:p>
          <a:p>
            <a:pPr lvl="0"/>
            <a:r>
              <a:rPr/>
              <a:t>GitHub review for trust.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Q&amp;A</a:t>
            </a:r>
          </a:p>
        </p:txBody>
      </p:sp>
      <p:pic>
        <p:nvPicPr>
          <p:cNvPr descr="placeholder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03300" y="1600200"/>
            <a:ext cx="71374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Repo URL / QR code placeholder (non-generative)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reproducible language science: from prompt to pipeline</dc:title>
  <dc:creator/>
  <cp:keywords/>
  <dcterms:created xsi:type="dcterms:W3CDTF">2025-10-30T18:20:31Z</dcterms:created>
  <dcterms:modified xsi:type="dcterms:W3CDTF">2025-10-30T18:20:31Z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xecute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