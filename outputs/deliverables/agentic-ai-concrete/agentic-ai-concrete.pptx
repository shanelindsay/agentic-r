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6D7E"/>
    <a:srgbClr val="3EE3F4"/>
    <a:srgbClr val="4B556B"/>
    <a:srgbClr val="3A41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5"/>
    <p:restoredTop autoAdjust="0" sz="94774"/>
  </p:normalViewPr>
  <p:slideViewPr>
    <p:cSldViewPr snapToGrid="0" snapToObjects="1">
      <p:cViewPr varScale="1">
        <p:scale>
          <a:sx d="100" n="96"/>
          <a:sy d="100" n="96"/>
        </p:scale>
        <p:origin x="1066" y="77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7" Type="http://schemas.microsoft.com/office/2015/10/relationships/revisionInfo" Target="revisionInfo.xml" /><Relationship Id="rId3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5" Type="http://schemas.openxmlformats.org/officeDocument/2006/relationships/theme" Target="theme/theme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677667"/>
            <a:ext cx="6858000" cy="1987895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3EE3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542318"/>
            <a:ext cx="6858000" cy="733231"/>
          </a:xfrm>
        </p:spPr>
        <p:txBody>
          <a:bodyPr>
            <a:normAutofit/>
          </a:bodyPr>
          <a:lstStyle>
            <a:lvl1pPr marL="0" indent="0" algn="ctr">
              <a:buNone/>
              <a:defRPr sz="3600" b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A7C7-1ADA-474D-B8F0-3471D14F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E5A21-E3F8-414E-8783-9B787CEE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A10B1-3C39-5B4F-85DD-4E44D8BD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3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3EE3F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1285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Clr>
                <a:srgbClr val="266D7E"/>
              </a:buClr>
              <a:buFont typeface="Arial" panose="020B0604020202020204" pitchFamily="34" charset="0"/>
              <a:buChar char="•"/>
              <a:defRPr lang="en-GB" sz="2000" kern="1200" dirty="0">
                <a:solidFill>
                  <a:srgbClr val="266D7E"/>
                </a:solidFill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1pPr>
            <a:lvl2pPr marL="3857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Clr>
                <a:srgbClr val="4B556B"/>
              </a:buClr>
              <a:buFont typeface="Arial" panose="020B0604020202020204" pitchFamily="34" charset="0"/>
              <a:buChar char="•"/>
              <a:defRPr lang="en-GB" sz="2000" kern="1200" dirty="0">
                <a:solidFill>
                  <a:srgbClr val="266D7E"/>
                </a:solidFill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2pPr>
            <a:lvl3pPr marL="6429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Clr>
                <a:srgbClr val="4B556B"/>
              </a:buClr>
              <a:buFont typeface="Arial" panose="020B0604020202020204" pitchFamily="34" charset="0"/>
              <a:buChar char="•"/>
              <a:defRPr lang="en-GB" sz="2000" kern="1200" dirty="0">
                <a:solidFill>
                  <a:srgbClr val="266D7E"/>
                </a:solidFill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3pPr>
            <a:lvl4pPr marL="9001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Clr>
                <a:srgbClr val="4B556B"/>
              </a:buClr>
              <a:buFont typeface="Arial" panose="020B0604020202020204" pitchFamily="34" charset="0"/>
              <a:buChar char="•"/>
              <a:defRPr lang="en-GB" sz="2000" kern="1200" dirty="0">
                <a:solidFill>
                  <a:srgbClr val="266D7E"/>
                </a:solidFill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4pPr>
            <a:lvl5pPr marL="11572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Clr>
                <a:srgbClr val="4B556B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rgbClr val="266D7E"/>
                </a:solidFill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5pPr>
          </a:lstStyle>
          <a:p>
            <a:pPr lvl="0"/>
            <a:r>
              <a:rPr lang="en-GB" dirty="0"/>
              <a:t> Click to edit Master text styles</a:t>
            </a:r>
          </a:p>
          <a:p>
            <a:pPr lvl="1"/>
            <a:r>
              <a:rPr lang="en-GB" dirty="0"/>
              <a:t> Second level</a:t>
            </a:r>
          </a:p>
          <a:p>
            <a:pPr lvl="2"/>
            <a:r>
              <a:rPr lang="en-GB" dirty="0"/>
              <a:t> Third level</a:t>
            </a:r>
          </a:p>
          <a:p>
            <a:pPr lvl="3"/>
            <a:r>
              <a:rPr lang="en-GB" dirty="0"/>
              <a:t> Fourth level</a:t>
            </a:r>
          </a:p>
          <a:p>
            <a:pPr lvl="4"/>
            <a:r>
              <a:rPr lang="en-GB" dirty="0"/>
              <a:t> 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559EF-BAB7-0E42-9E60-A03A3B0D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BB6D2-A026-D74A-8C2A-7AD33F22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1D05D-520A-D942-8D98-B02EF8CF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8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rgbClr val="FFC000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7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DBC1-527D-3041-984A-EF5E7E9B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EE3F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A7BF1-44B1-744C-AB68-4BB0A6A59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74A49-6A1E-2F48-B419-02B0A17B9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A9989-2AC6-0F4E-ADFD-C6E06D00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625DC-FC15-A34E-972A-D70B8A82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A2A21-61F6-4A4F-8B34-7B5540EF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3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1DF4-AED1-614B-BE12-21438630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>
                <a:solidFill>
                  <a:srgbClr val="3EE3F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DBCAE-E5F3-8C40-9708-53662383E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FFC000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57552-3DC5-3546-AB54-31C74D633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3EE9D-F5D6-F54D-8468-AEFB4E718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4B556B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198EC-0E7C-514D-9D5C-E0079B57D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9E07E0-5A9C-4B41-95FF-3BAA5F6B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DB537-974F-D34D-9750-CC69627A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6F390-2D22-5048-A0FC-3FAD9329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16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D455-6580-E548-84D2-30E8C319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EE3F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37170-F497-734A-8863-A2B1D6D2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3678E-8EC0-9D40-85FD-A78B7303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10869-C0FC-2E44-824A-787E6D8B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FB1ED-2AE6-5449-BE22-43836D3C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D820E-FB19-6E41-9F98-FE01AD87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09D32-6061-E14C-B370-0847ED7F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7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7886700" cy="1112835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rgbClr val="3EE3F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8BCD6-9805-9E45-9B7C-5314F41E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9" y="1820174"/>
            <a:ext cx="3944541" cy="404087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820174"/>
            <a:ext cx="3622982" cy="404881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F4F16-08DB-C247-8F9D-24EA7D84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F2B46-16CB-7E41-AD5E-4493C928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A2BC5-3886-C647-BB53-7B07EAE7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82B8-C849-1F4E-8FED-86CF39DF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rgbClr val="4B556B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410FE-1E10-8C4A-BD9D-9A0F6C9D1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22F09-1B36-2F4E-8EEA-BAEEB3FD2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97009-98F8-D441-A078-A31F891B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ACA9B-B433-8E45-A2A3-CD0940DB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A396B-3342-4645-AC86-58732AAE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0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FF1A-8372-FB40-B0E0-0EE88C8B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B556B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F1868-78C4-704F-87A4-9909281CB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64A86-EE40-7F47-8F4A-D5FD082D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36DD5-D90C-D148-9A75-6E5EF76E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649B3-720E-654D-9610-263AC0D9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40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5E4B96-467B-A24D-9EC1-DD46EE699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>
                <a:solidFill>
                  <a:srgbClr val="4B556B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0EC97-EC51-3242-A427-B6C401F9B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54FCF-A603-6944-ACE1-F3530AAB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700E-B16B-6340-9BEE-2E563F92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ADE9-5F17-2E4E-A23B-A3EF5CC96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36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ctr"/>
          <a:lstStyle>
            <a:lvl1pPr algn="ctr">
              <a:defRPr sz="3375">
                <a:solidFill>
                  <a:srgbClr val="4B556B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433C7-4F7C-4247-8FF5-1E63E18E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8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Header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862064"/>
            <a:ext cx="8229600" cy="1143000"/>
          </a:xfrm>
        </p:spPr>
        <p:txBody>
          <a:bodyPr>
            <a:noAutofit/>
          </a:bodyPr>
          <a:lstStyle>
            <a:lvl1pPr>
              <a:defRPr sz="72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 panose="020606030202050204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8128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plain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1143000"/>
          </a:xfrm>
        </p:spPr>
        <p:txBody>
          <a:bodyPr>
            <a:noAutofit/>
          </a:bodyPr>
          <a:lstStyle>
            <a:lvl1pPr>
              <a:defRPr sz="4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55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rgbClr val="33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1143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529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bg>
      <p:bgPr>
        <a:solidFill>
          <a:srgbClr val="FFA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1143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155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756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ark grey blank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2924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859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2093-8B26-439B-A49E-8C472C3EFC30}" type="datetime1">
              <a:rPr lang="en-GB" smtClean="0"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601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0D2D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39751" y="1700215"/>
            <a:ext cx="8147050" cy="46815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7496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our turn activity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40564" y="332656"/>
            <a:ext cx="7519868" cy="1143000"/>
          </a:xfrm>
        </p:spPr>
        <p:txBody>
          <a:bodyPr>
            <a:normAutofit fontScale="90000"/>
          </a:bodyPr>
          <a:lstStyle>
            <a:lvl1pPr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l"/>
            <a:r>
              <a:rPr lang="en-US" dirty="0">
                <a:effectLst/>
                <a:latin typeface="Arial" panose="020B0604020202020204" pitchFamily="34" charset="0"/>
              </a:rPr>
              <a:t>Click to edit Master title style</a:t>
            </a:r>
            <a:endParaRPr lang="en-GB" dirty="0">
              <a:effectLst/>
              <a:latin typeface="Arial" panose="020B0604020202020204" pitchFamily="3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11560" y="1782762"/>
            <a:ext cx="8075240" cy="4915694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Clr>
                <a:srgbClr val="FFA825"/>
              </a:buClr>
              <a:buSzPct val="170000"/>
              <a:buFont typeface="Arial" panose="020B0604020202020204" pitchFamily="34" charset="0"/>
              <a:buNone/>
              <a:defRPr>
                <a:solidFill>
                  <a:srgbClr val="FF632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23072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bg>
      <p:bgPr>
        <a:solidFill>
          <a:srgbClr val="FFA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1143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8731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overlai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38496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3" Target="../slideLayouts/slideLayout3.xml" Type="http://schemas.openxmlformats.org/officeDocument/2006/relationships/slideLayout" /><Relationship Id="rId21" Target="../slideLayouts/slideLayout21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0C2B60-7A22-834C-9BAC-D26560A3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GB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BF5EA-1FF6-EB48-B367-10F16FE226B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GB"/>
              <a:t> Click to edit Master text styles</a:t>
            </a:r>
          </a:p>
          <a:p>
            <a:pPr lvl="1"/>
            <a:r>
              <a:rPr dirty="0" lang="en-GB"/>
              <a:t> Second level</a:t>
            </a:r>
          </a:p>
          <a:p>
            <a:pPr lvl="2"/>
            <a:r>
              <a:rPr dirty="0" lang="en-GB"/>
              <a:t> Third level</a:t>
            </a:r>
          </a:p>
          <a:p>
            <a:pPr lvl="3"/>
            <a:r>
              <a:rPr dirty="0" lang="en-GB"/>
              <a:t> Fourth level</a:t>
            </a:r>
          </a:p>
          <a:p>
            <a:pPr lvl="4"/>
            <a:r>
              <a:rPr dirty="0" lang="en-GB"/>
              <a:t> Fifth level</a:t>
            </a:r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491ED-FFB7-904F-8814-ED29EAA4264A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08862-D156-2142-AB15-C9A3A7B61507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6F4AD-BD6B-CE47-88CB-D7910584936B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07448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xStyles>
    <p:titleStyle>
      <a:lvl1pPr algn="ctr" defTabSz="514350" eaLnBrk="1" hangingPunct="1" latinLnBrk="0" rtl="0">
        <a:lnSpc>
          <a:spcPct val="90000"/>
        </a:lnSpc>
        <a:spcBef>
          <a:spcPct val="0"/>
        </a:spcBef>
        <a:buNone/>
        <a:defRPr b="1" i="0" kern="1200" sz="3200">
          <a:solidFill>
            <a:srgbClr val="3EE3F4"/>
          </a:solidFill>
          <a:latin charset="0" panose="020B0702040204020203" pitchFamily="34" typeface="Segoe UI Semibold"/>
          <a:ea typeface="+mj-ea"/>
          <a:cs charset="0" panose="020B0702040204020203" pitchFamily="34" typeface="Segoe UI Semibold"/>
        </a:defRPr>
      </a:lvl1pPr>
    </p:titleStyle>
    <p:bodyStyle>
      <a:lvl1pPr algn="l" defTabSz="514350" eaLnBrk="1" hangingPunct="1" indent="-269875" latinLnBrk="0" marL="269875" rtl="0">
        <a:lnSpc>
          <a:spcPct val="90000"/>
        </a:lnSpc>
        <a:spcBef>
          <a:spcPts val="563"/>
        </a:spcBef>
        <a:buClr>
          <a:srgbClr val="266D7E"/>
        </a:buClr>
        <a:buFont charset="0" panose="020B0604020202020204" pitchFamily="34" typeface="Arial"/>
        <a:buChar char="•"/>
        <a:defRPr kern="1200" sz="2400">
          <a:solidFill>
            <a:srgbClr val="266D7E"/>
          </a:solidFill>
          <a:latin charset="0" panose="02040503050203030202" pitchFamily="18" typeface="Mangal"/>
          <a:ea typeface="+mn-ea"/>
          <a:cs charset="0" panose="02040503050203030202" pitchFamily="18" typeface="Mangal"/>
        </a:defRPr>
      </a:lvl1pPr>
      <a:lvl2pPr algn="l" defTabSz="514350" eaLnBrk="1" hangingPunct="1" indent="-190500" latinLnBrk="0" marL="447675" rtl="0">
        <a:lnSpc>
          <a:spcPct val="90000"/>
        </a:lnSpc>
        <a:spcBef>
          <a:spcPts val="281"/>
        </a:spcBef>
        <a:buClr>
          <a:srgbClr val="266D7E"/>
        </a:buClr>
        <a:buFont charset="0" panose="020B0604020202020204" pitchFamily="34" typeface="Arial"/>
        <a:buChar char="•"/>
        <a:defRPr kern="1200" sz="2400">
          <a:solidFill>
            <a:srgbClr val="266D7E"/>
          </a:solidFill>
          <a:latin charset="0" panose="02040503050203030202" pitchFamily="18" typeface="Mangal"/>
          <a:ea typeface="+mn-ea"/>
          <a:cs charset="0" panose="02040503050203030202" pitchFamily="18" typeface="Mangal"/>
        </a:defRPr>
      </a:lvl2pPr>
      <a:lvl3pPr algn="l" defTabSz="514350" eaLnBrk="1" hangingPunct="1" indent="-203200" latinLnBrk="0" marL="717550" rtl="0">
        <a:lnSpc>
          <a:spcPct val="90000"/>
        </a:lnSpc>
        <a:spcBef>
          <a:spcPts val="281"/>
        </a:spcBef>
        <a:buClr>
          <a:srgbClr val="266D7E"/>
        </a:buClr>
        <a:buFont charset="0" panose="020B0604020202020204" pitchFamily="34" typeface="Arial"/>
        <a:buChar char="•"/>
        <a:defRPr kern="1200" sz="2400">
          <a:solidFill>
            <a:srgbClr val="266D7E"/>
          </a:solidFill>
          <a:latin charset="0" panose="02040503050203030202" pitchFamily="18" typeface="Mangal"/>
          <a:ea typeface="+mn-ea"/>
          <a:cs charset="0" panose="02040503050203030202" pitchFamily="18" typeface="Mangal"/>
        </a:defRPr>
      </a:lvl3pPr>
      <a:lvl4pPr algn="l" defTabSz="514350" eaLnBrk="1" hangingPunct="1" indent="-215900" latinLnBrk="0" marL="987425" rtl="0">
        <a:lnSpc>
          <a:spcPct val="90000"/>
        </a:lnSpc>
        <a:spcBef>
          <a:spcPts val="281"/>
        </a:spcBef>
        <a:buClr>
          <a:srgbClr val="266D7E"/>
        </a:buClr>
        <a:buFont charset="0" panose="020B0604020202020204" pitchFamily="34" typeface="Arial"/>
        <a:buChar char="•"/>
        <a:defRPr kern="1200" sz="2400">
          <a:solidFill>
            <a:srgbClr val="266D7E"/>
          </a:solidFill>
          <a:latin charset="0" panose="02040503050203030202" pitchFamily="18" typeface="Mangal"/>
          <a:ea typeface="+mn-ea"/>
          <a:cs charset="0" panose="02040503050203030202" pitchFamily="18" typeface="Mangal"/>
        </a:defRPr>
      </a:lvl4pPr>
      <a:lvl5pPr algn="l" defTabSz="514350" eaLnBrk="1" hangingPunct="1" indent="-228600" latinLnBrk="0" marL="1257300" rtl="0">
        <a:lnSpc>
          <a:spcPct val="90000"/>
        </a:lnSpc>
        <a:spcBef>
          <a:spcPts val="281"/>
        </a:spcBef>
        <a:buClr>
          <a:srgbClr val="266D7E"/>
        </a:buClr>
        <a:buFont charset="0" panose="020B0604020202020204" pitchFamily="34" typeface="Arial"/>
        <a:buChar char="•"/>
        <a:defRPr kern="1200" sz="2400">
          <a:solidFill>
            <a:srgbClr val="266D7E"/>
          </a:solidFill>
          <a:latin charset="0" panose="02040503050203030202" pitchFamily="18" typeface="Mangal"/>
          <a:ea typeface="+mn-ea"/>
          <a:cs charset="0" panose="02040503050203030202" pitchFamily="18" typeface="Mangal"/>
        </a:defRPr>
      </a:lvl5pPr>
      <a:lvl6pPr algn="l" defTabSz="514350" eaLnBrk="1" hangingPunct="1" indent="-128588" latinLnBrk="0" marL="1414463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6pPr>
      <a:lvl7pPr algn="l" defTabSz="514350" eaLnBrk="1" hangingPunct="1" indent="-128588" latinLnBrk="0" marL="1671638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7pPr>
      <a:lvl8pPr algn="l" defTabSz="514350" eaLnBrk="1" hangingPunct="1" indent="-128588" latinLnBrk="0" marL="1928813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8pPr>
      <a:lvl9pPr algn="l" defTabSz="514350" eaLnBrk="1" hangingPunct="1" indent="-128588" latinLnBrk="0" marL="2185988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514350" eaLnBrk="1" hangingPunct="1" latinLnBrk="0" marL="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1pPr>
      <a:lvl2pPr algn="l" defTabSz="514350" eaLnBrk="1" hangingPunct="1" latinLnBrk="0" marL="25717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2pPr>
      <a:lvl3pPr algn="l" defTabSz="514350" eaLnBrk="1" hangingPunct="1" latinLnBrk="0" marL="51435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3pPr>
      <a:lvl4pPr algn="l" defTabSz="514350" eaLnBrk="1" hangingPunct="1" latinLnBrk="0" marL="77152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4pPr>
      <a:lvl5pPr algn="l" defTabSz="514350" eaLnBrk="1" hangingPunct="1" latinLnBrk="0" marL="102870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5pPr>
      <a:lvl6pPr algn="l" defTabSz="514350" eaLnBrk="1" hangingPunct="1" latinLnBrk="0" marL="128587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6pPr>
      <a:lvl7pPr algn="l" defTabSz="514350" eaLnBrk="1" hangingPunct="1" latinLnBrk="0" marL="154305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7pPr>
      <a:lvl8pPr algn="l" defTabSz="514350" eaLnBrk="1" hangingPunct="1" latinLnBrk="0" marL="180022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8pPr>
      <a:lvl9pPr algn="l" defTabSz="514350" eaLnBrk="1" hangingPunct="1" latinLnBrk="0" marL="205740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677667"/>
            <a:ext cx="6858000" cy="1987895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Agentic AI for Reproducible Language Science: From Prompt to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143000" y="4542318"/>
            <a:ext cx="6858000" cy="733231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Shane Lindsay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Shane Lindsay</a:t>
            </a:r>
            <a:br/>
            <a:r>
              <a:rPr/>
              <a:t>University of Hull</a:t>
            </a:r>
            <a:br/>
            <a:r>
              <a:rPr/>
              <a:t>https://github.com/shanelindsay/agentic-r/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Why now (spoiler: they finally work)</a:t>
            </a:r>
          </a:p>
          <a:p>
            <a:pPr lvl="0"/>
            <a:r>
              <a:rPr/>
              <a:t>What is an agent</a:t>
            </a:r>
          </a:p>
          <a:p>
            <a:pPr lvl="0"/>
            <a:r>
              <a:rPr/>
              <a:t>Demo: agents and reproducible research patterns</a:t>
            </a:r>
          </a:p>
          <a:p>
            <a:pPr lvl="0"/>
            <a:r>
              <a:rPr/>
              <a:t>Practical patterns you can steal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Assume you have used LLM chatbots, for example ChatGPT, ==探索未至之境==</a:t>
            </a:r>
            <a:br/>
            <a:r>
              <a:rPr/>
              <a:t>Assume knowledge of R (applies to Python and other tools too)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agents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LLM models are now smart enough for multi-step, tool-using tasks</a:t>
            </a:r>
          </a:p>
          <a:p>
            <a:pPr lvl="0"/>
            <a:r>
              <a:rPr/>
              <a:t>They are cheap enough to be practical for students and labs</a:t>
            </a:r>
          </a:p>
          <a:p>
            <a:pPr lvl="0"/>
            <a:r>
              <a:rPr/>
              <a:t>Agents are accessible</a:t>
            </a:r>
          </a:p>
          <a:p>
            <a:pPr lvl="0"/>
            <a:r>
              <a:rPr/>
              <a:t>The technology is useful for everyday research work</a:t>
            </a:r>
          </a:p>
          <a:p>
            <a:pPr lvl="0" indent="0" marL="0">
              <a:buNone/>
            </a:pPr>
            <a:r>
              <a:rPr b="1"/>
              <a:t>Provocation</a:t>
            </a:r>
            <a:r>
              <a:rPr/>
              <a:t>: By the end of 2025, no one will ever need to code or use a GUI (like SPSS) again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an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General purpose LLM that lives inside a computer</a:t>
            </a:r>
          </a:p>
          <a:p>
            <a:pPr lvl="0"/>
            <a:r>
              <a:rPr/>
              <a:t>Read and write access to the file system, with access to bash or PowerShell</a:t>
            </a:r>
          </a:p>
          <a:p>
            <a:pPr lvl="0"/>
            <a:r>
              <a:rPr/>
              <a:t>Whatever you can do, it can do, with guardrails and approvals</a:t>
            </a:r>
          </a:p>
          <a:p>
            <a:pPr lvl="0"/>
            <a:r>
              <a:rPr/>
              <a:t>Can work autonomously for typically less than 20 minutes</a:t>
            </a:r>
          </a:p>
          <a:p>
            <a:pPr lvl="0"/>
            <a:r>
              <a:rPr/>
              <a:t>Search the web, write code, execute it, write it up</a:t>
            </a:r>
          </a:p>
          <a:p>
            <a:pPr lvl="0"/>
            <a:r>
              <a:rPr/>
              <a:t>Full end to end scientific process</a:t>
            </a:r>
          </a:p>
          <a:p>
            <a:pPr lvl="1"/>
            <a:r>
              <a:rPr/>
              <a:t>Today focused on analyses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One knob: fast and rough versus slow and smart</a:t>
            </a:r>
          </a:p>
          <a:p>
            <a:pPr lvl="0"/>
            <a:r>
              <a:rPr/>
              <a:t>Daily heavy use: $200 per month</a:t>
            </a:r>
          </a:p>
          <a:p>
            <a:pPr lvl="0"/>
            <a:r>
              <a:rPr/>
              <a:t>Moderate use: $100 per month</a:t>
            </a:r>
          </a:p>
          <a:p>
            <a:pPr lvl="0"/>
            <a:r>
              <a:rPr/>
              <a:t>Light use: $20 per month</a:t>
            </a:r>
          </a:p>
          <a:p>
            <a:pPr lvl="0"/>
            <a:r>
              <a:rPr/>
              <a:t>Free tiers exist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US: Codex (OpenAI), Claude Code (Anthropic), Gemini (Google), Cursor, Copilot (Microsoft)</a:t>
            </a:r>
          </a:p>
          <a:p>
            <a:pPr lvl="0"/>
            <a:r>
              <a:rPr/>
              <a:t>China: Kimi K2, Qwen 3, GLM 4.5</a:t>
            </a:r>
          </a:p>
          <a:p>
            <a:pPr lvl="0"/>
            <a:r>
              <a:rPr/>
              <a:t>Currently: OpenAI Codex is smartest, Claude Code 4.5 second, GLM or K2 best for cost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Promise of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Increase speed</a:t>
            </a:r>
          </a:p>
          <a:p>
            <a:pPr lvl="0"/>
            <a:r>
              <a:rPr/>
              <a:t>Increase capability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Perils of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Errors</a:t>
            </a:r>
          </a:p>
          <a:p>
            <a:pPr lvl="0"/>
            <a:r>
              <a:rPr/>
              <a:t>Loss of control and responsibility</a:t>
            </a:r>
          </a:p>
          <a:p>
            <a:pPr lvl="0"/>
            <a:r>
              <a:rPr/>
              <a:t>Atrophy of skills</a:t>
            </a:r>
          </a:p>
          <a:p>
            <a:pPr lvl="0"/>
            <a:r>
              <a:rPr/>
              <a:t>Technical demands and complexity (tech debt)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Think of an agent as a new lab member arriving cold to your research project</a:t>
            </a:r>
          </a:p>
          <a:p>
            <a:pPr lvl="0"/>
            <a:r>
              <a:rPr/>
              <a:t>Very keen, very fast, very smart, sometimes wise, sometimes also wrong</a:t>
            </a:r>
          </a:p>
          <a:p>
            <a:pPr lvl="0"/>
            <a:r>
              <a:rPr/>
              <a:t>Agents work best when projects are structured, documented and runnable</a:t>
            </a:r>
          </a:p>
          <a:p>
            <a:pPr lvl="0"/>
            <a:r>
              <a:rPr/>
              <a:t>Structure encourages consistent patterns in your workflows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Verify findings, others can validate your results</a:t>
            </a:r>
          </a:p>
          <a:p>
            <a:pPr lvl="0"/>
            <a:r>
              <a:rPr/>
              <a:t>Reduce bias through transparency in methods</a:t>
            </a:r>
          </a:p>
          <a:p>
            <a:pPr lvl="0"/>
            <a:r>
              <a:rPr/>
              <a:t>Catch errors, community review improves quality</a:t>
            </a:r>
          </a:p>
          <a:p>
            <a:pPr lvl="0"/>
            <a:r>
              <a:rPr/>
              <a:t>Preserve knowledge beyond individual researchers</a:t>
            </a:r>
          </a:p>
          <a:p>
            <a:pPr lvl="0"/>
            <a:r>
              <a:rPr/>
              <a:t>Increasingly required by funding agencies and journals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Reproducible research and agentic AI are best friends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Research codebase lifecycle: plan → execute → review → share → re-run</a:t>
            </a:r>
          </a:p>
          <a:p>
            <a:pPr lvl="0"/>
            <a:r>
              <a:rPr/>
              <a:t>Reproducibility means others, including agents, can repeat the same steps and get the same artefacts</a:t>
            </a:r>
          </a:p>
          <a:p>
            <a:pPr lvl="0"/>
            <a:r>
              <a:rPr/>
              <a:t>Agents support reproducibility when outputs are scripted, logged and text based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Coding patterns and how agents interact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Monolithic 1000 line script: quick start, fragile for change, sprawl, hard to understand and debug</a:t>
            </a:r>
          </a:p>
          <a:p>
            <a:pPr lvl="0"/>
            <a:r>
              <a:rPr/>
              <a:t>Numbered scripts: clearer workflow, smaller functional units</a:t>
            </a:r>
          </a:p>
          <a:p>
            <a:pPr lvl="0"/>
            <a:r>
              <a:rPr/>
              <a:t>Makefile orchestrated scripts: explicit dependencies, deterministic runs</a:t>
            </a:r>
          </a:p>
          <a:p>
            <a:pPr lvl="0" indent="0" marL="0">
              <a:buNone/>
            </a:pPr>
            <a:r>
              <a:rPr b="1"/>
              <a:t>Goal</a:t>
            </a:r>
            <a:r>
              <a:rPr/>
              <a:t>: press a button, raw data transformed directly to numbers in a manuscript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Containers and predictability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Containers are cloud based Unix environments that can be spun up and thrown away</a:t>
            </a:r>
          </a:p>
          <a:p>
            <a:pPr lvl="0"/>
            <a:r>
              <a:rPr/>
              <a:t>Agents are stateless across sessions, containers provide a predictable starting point</a:t>
            </a:r>
          </a:p>
          <a:p>
            <a:pPr lvl="0"/>
            <a:r>
              <a:rPr/>
              <a:t>If a stranger can run the repo from the documentation, an agent can too</a:t>
            </a:r>
          </a:p>
          <a:p>
            <a:pPr lvl="0"/>
            <a:r>
              <a:rPr/>
              <a:t>Running agents in containers is safer, they operate inside the container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GitHub provides version tracking</a:t>
            </a:r>
          </a:p>
          <a:p>
            <a:pPr lvl="0"/>
            <a:r>
              <a:rPr/>
              <a:t>Monitor and approve any changes with pull requests</a:t>
            </a:r>
          </a:p>
          <a:p>
            <a:pPr lvl="0"/>
            <a:r>
              <a:rPr/>
              <a:t>Protect work from being overwritten, history is always saved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shanelindsay/agentic-r GitHub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AGENTS.md</a:t>
            </a:r>
            <a:r>
              <a:rPr/>
              <a:t>: how the agent should work in this repo</a:t>
            </a:r>
          </a:p>
          <a:p>
            <a:pPr lvl="0"/>
            <a:r>
              <a:rPr>
                <a:latin typeface="Courier"/>
              </a:rPr>
              <a:t>dev/run-in-env.sh</a:t>
            </a:r>
            <a:r>
              <a:rPr/>
              <a:t>: get R working using micromamba</a:t>
            </a:r>
          </a:p>
          <a:p>
            <a:pPr lvl="0"/>
            <a:r>
              <a:rPr>
                <a:latin typeface="Courier"/>
              </a:rPr>
              <a:t>environment.yml</a:t>
            </a:r>
            <a:r>
              <a:rPr/>
              <a:t>: R version and packages to use (numbered, reproducible)</a:t>
            </a:r>
          </a:p>
          <a:p>
            <a:pPr lvl="0"/>
            <a:r>
              <a:rPr/>
              <a:t>Agents are told to use the wrapper to run scripts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Makefile and two small R scripts (</a:t>
            </a:r>
            <a:r>
              <a:rPr>
                <a:latin typeface="Courier"/>
              </a:rPr>
              <a:t>01_prepare.R</a:t>
            </a:r>
            <a:r>
              <a:rPr/>
              <a:t>, </a:t>
            </a:r>
            <a:r>
              <a:rPr>
                <a:latin typeface="Courier"/>
              </a:rPr>
              <a:t>02_model.R</a:t>
            </a:r>
            <a:r>
              <a:rPr/>
              <a:t>)</a:t>
            </a:r>
          </a:p>
          <a:p>
            <a:pPr lvl="0"/>
            <a:r>
              <a:rPr>
                <a:latin typeface="Courier"/>
              </a:rPr>
              <a:t>data/raw</a:t>
            </a:r>
            <a:r>
              <a:rPr/>
              <a:t>, </a:t>
            </a:r>
            <a:r>
              <a:rPr>
                <a:latin typeface="Courier"/>
              </a:rPr>
              <a:t>data/processed</a:t>
            </a:r>
            <a:r>
              <a:rPr/>
              <a:t>, </a:t>
            </a:r>
            <a:r>
              <a:rPr>
                <a:latin typeface="Courier"/>
              </a:rPr>
              <a:t>results/metrics.yml</a:t>
            </a:r>
          </a:p>
          <a:p>
            <a:pPr lvl="0"/>
            <a:r>
              <a:rPr/>
              <a:t>Explain changes in the PR description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Lexical Decision in Chinese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Baseline: run the pipeline once to produce </a:t>
            </a:r>
            <a:r>
              <a:rPr>
                <a:latin typeface="Courier"/>
              </a:rPr>
              <a:t>metrics.yml</a:t>
            </a:r>
          </a:p>
          <a:p>
            <a:pPr lvl="0"/>
            <a:r>
              <a:rPr/>
              <a:t>Demo data: a tiny, lawful slice of a lexical decision dataset with lexical predictors</a:t>
            </a:r>
          </a:p>
          <a:p>
            <a:pPr lvl="0"/>
            <a:r>
              <a:rPr/>
              <a:t>Backup: pre-baked PR and a 30 to 45 second recording of a successful run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demo: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Agent prompt: add one predictor, for example neighbourhood, update </a:t>
            </a:r>
            <a:r>
              <a:rPr>
                <a:latin typeface="Courier"/>
              </a:rPr>
              <a:t>02_model.R</a:t>
            </a:r>
            <a:r>
              <a:rPr/>
              <a:t>, write the new coefficient to </a:t>
            </a:r>
            <a:r>
              <a:rPr>
                <a:latin typeface="Courier"/>
              </a:rPr>
              <a:t>results/metrics.yml</a:t>
            </a:r>
            <a:r>
              <a:rPr/>
              <a:t>, update </a:t>
            </a:r>
            <a:r>
              <a:rPr>
                <a:latin typeface="Courier"/>
              </a:rPr>
              <a:t>README</a:t>
            </a:r>
          </a:p>
          <a:p>
            <a:pPr lvl="0"/>
            <a:r>
              <a:rPr/>
              <a:t>You re-run the pipeline deterministically via the wrapper and Makefile</a:t>
            </a:r>
          </a:p>
          <a:p>
            <a:pPr lvl="0"/>
            <a:r>
              <a:rPr/>
              <a:t>Show the small, scoped diff in </a:t>
            </a:r>
            <a:r>
              <a:rPr>
                <a:latin typeface="Courier"/>
              </a:rPr>
              <a:t>metrics.yml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demo: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Second agent reads the PR diff and </a:t>
            </a:r>
            <a:r>
              <a:rPr>
                <a:latin typeface="Courier"/>
              </a:rPr>
              <a:t>metrics.yml</a:t>
            </a:r>
            <a:r>
              <a:rPr/>
              <a:t> and writes a review</a:t>
            </a:r>
          </a:p>
          <a:p>
            <a:pPr lvl="0"/>
            <a:r>
              <a:rPr/>
              <a:t>Human reviews the agent review and approves or requests changes</a:t>
            </a:r>
          </a:p>
          <a:p>
            <a:pPr lvl="0"/>
            <a:r>
              <a:rPr/>
              <a:t>Loop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Interactive versus script 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Explore interactively if needed, then commit changes as scripts or Makefile targets for determinism and reproducibility</a:t>
            </a:r>
          </a:p>
          <a:p>
            <a:pPr lvl="0"/>
            <a:r>
              <a:rPr/>
              <a:t>Store results as diffable tables for easy review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Branch, PR, concise description, human review, merge</a:t>
            </a:r>
          </a:p>
          <a:p>
            <a:pPr lvl="0"/>
            <a:r>
              <a:rPr/>
              <a:t>Keep commits small and well scoped, include one line rationales</a:t>
            </a:r>
          </a:p>
          <a:p>
            <a:pPr lvl="0"/>
            <a:r>
              <a:rPr/>
              <a:t>Use PR comments for agent checklists and reviewer notes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to end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Manuscript or Quarto report reads values from </a:t>
            </a:r>
            <a:r>
              <a:rPr>
                <a:latin typeface="Courier"/>
              </a:rPr>
              <a:t>results/*</a:t>
            </a:r>
          </a:p>
          <a:p>
            <a:pPr lvl="0"/>
            <a:r>
              <a:rPr/>
              <a:t>This keeps numbers traceable and updates transparent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patterns to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Builder: proposes and edits code</a:t>
            </a:r>
          </a:p>
          <a:p>
            <a:pPr lvl="0"/>
            <a:r>
              <a:rPr/>
              <a:t>Checker: audits diffs and outputs</a:t>
            </a:r>
          </a:p>
          <a:p>
            <a:pPr lvl="0"/>
            <a:r>
              <a:rPr/>
              <a:t>Critic (optional): proposes tests or diagnostics</a:t>
            </a:r>
          </a:p>
          <a:p>
            <a:pPr lvl="0"/>
            <a:r>
              <a:rPr/>
              <a:t>Humans remain the final approvers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to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Pick one stage, cleaning or modelling or reporting, and start small</a:t>
            </a:r>
          </a:p>
          <a:p>
            <a:pPr lvl="0"/>
            <a:r>
              <a:rPr/>
              <a:t>Keep tasks atomic</a:t>
            </a:r>
          </a:p>
          <a:p>
            <a:pPr lvl="0"/>
            <a:r>
              <a:rPr/>
              <a:t>Measure time saved against review effort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Short, explicit prompts, give file paths and desired outputs</a:t>
            </a:r>
          </a:p>
          <a:p>
            <a:pPr lvl="0"/>
            <a:r>
              <a:rPr/>
              <a:t>Make outputs diffable (CSV or YAML), keep raw data read only</a:t>
            </a:r>
          </a:p>
          <a:p>
            <a:pPr lvl="0"/>
            <a:r>
              <a:rPr/>
              <a:t>Pre-record a fallback run for live demos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Memes and memory aids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Single tasteful meme with a one line caption to reinforce a point</a:t>
            </a:r>
          </a:p>
          <a:p>
            <a:pPr lvl="0"/>
            <a:r>
              <a:rPr/>
              <a:t>Humour lines: “Agents do not bring cake, but they write the README”; “Keen RA, occasional hallucinations”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Take-home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Agents expand what a small team can do</a:t>
            </a:r>
          </a:p>
          <a:p>
            <a:pPr lvl="0"/>
            <a:r>
              <a:rPr/>
              <a:t>Structure, container plus Makefile plus scripts plus PRs, keeps agents honest</a:t>
            </a:r>
          </a:p>
          <a:p>
            <a:pPr lvl="0"/>
            <a:r>
              <a:rPr/>
              <a:t>Start small, review everything, iterate responsibly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Reserve or 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Space for extra demo tweaks, audience questions, or a second quick agent change</a:t>
            </a:r>
          </a:p>
          <a:p>
            <a:pPr lvl="0"/>
            <a:r>
              <a:rPr/>
              <a:t>If unused, recap the main points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 and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Show repo URL or QR and contact details</a:t>
            </a:r>
          </a:p>
          <a:p>
            <a:pPr lvl="0"/>
            <a:r>
              <a:rPr/>
              <a:t>Invite concrete questions, for example “Where would you start” or “What template would help”</a:t>
            </a:r>
          </a:p>
        </p:txBody>
      </p:sp>
    </p:spTree>
  </p:cSld>
</p:sld>
</file>

<file path=ppt/theme/theme1.xml><?xml version="1.0" encoding="utf-8"?>
<a:theme xmlns:a="http://schemas.openxmlformats.org/drawingml/2006/main" name="No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d-theme.pptx" id="{59E970D9-FE21-457B-9A76-EF30135C5AA9}" vid="{6B5E3EBF-FC8E-4B13-ABCC-6AF1C65939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545</Words>
  <Application>Microsoft Office PowerPoint</Application>
  <PresentationFormat>On-screen Show (4:3)</PresentationFormat>
  <Paragraphs>135</Paragraphs>
  <Slides>32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Mangal</vt:lpstr>
      <vt:lpstr>Rockwell</vt:lpstr>
      <vt:lpstr>Segoe UI Semibold</vt:lpstr>
      <vt:lpstr>Nord</vt:lpstr>
      <vt:lpstr>Slides 1</vt:lpstr>
      <vt:lpstr>Test 1</vt:lpstr>
      <vt:lpstr>Section</vt:lpstr>
      <vt:lpstr>Columns</vt:lpstr>
      <vt:lpstr>Types of fruit</vt:lpstr>
      <vt:lpstr>Types of fruit</vt:lpstr>
      <vt:lpstr>Apples</vt:lpstr>
      <vt:lpstr>Comparison</vt:lpstr>
      <vt:lpstr>Statistical test</vt:lpstr>
      <vt:lpstr>PowerPoint Presentation</vt:lpstr>
      <vt:lpstr>Sampling Distribution</vt:lpstr>
      <vt:lpstr>Statistic vs. Parameter (1)</vt:lpstr>
      <vt:lpstr>Statistical hypotheses</vt:lpstr>
      <vt:lpstr>p-values and supporting hypotheses</vt:lpstr>
      <vt:lpstr>PowerPoint Presentation</vt:lpstr>
      <vt:lpstr>Confidence interval</vt:lpstr>
      <vt:lpstr>Estimation</vt:lpstr>
      <vt:lpstr>PowerPoint Presentation</vt:lpstr>
      <vt:lpstr>Q: Margin of Error</vt:lpstr>
      <vt:lpstr>Q: SE and uncertainty</vt:lpstr>
      <vt:lpstr>Q: Hypothesis testing</vt:lpstr>
      <vt:lpstr>Your task</vt:lpstr>
      <vt:lpstr>Plan</vt:lpstr>
      <vt:lpstr>Section transition</vt:lpstr>
      <vt:lpstr>Basket makers</vt:lpstr>
      <vt:lpstr>Plan</vt:lpstr>
      <vt:lpstr>PowerPoint Presentation</vt:lpstr>
      <vt:lpstr>See you next week</vt:lpstr>
      <vt:lpstr>Example</vt:lpstr>
      <vt:lpstr>Interesting quote</vt:lpstr>
      <vt:lpstr>PowerPoint Presentation</vt:lpstr>
      <vt:lpstr>http://www.flaticon.com/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Reproducible Language Science: From Prompt to Pipeline</dc:title>
  <dc:creator>Shane Lindsay</dc:creator>
  <cp:keywords/>
  <dcterms:created xsi:type="dcterms:W3CDTF">2025-10-31T11:13:58Z</dcterms:created>
  <dcterms:modified xsi:type="dcterms:W3CDTF">2025-10-31T11:13:58Z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utput-dir">
    <vt:lpwstr>../outputs/deliverables/agentic-ai-concrete</vt:lpwstr>
  </property>
  <property fmtid="{D5CDD505-2E9C-101B-9397-08002B2CF9AE}" pid="11" name="toc-title">
    <vt:lpwstr>Table of contents</vt:lpwstr>
  </property>
</Properties>
</file>