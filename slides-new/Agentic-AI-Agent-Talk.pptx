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TALK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 Reproducible Language Science</a:t>
            </a:r>
            <a:endParaRPr lang="en-US" sz="3450" dirty="0"/>
          </a:p>
        </p:txBody>
      </p:sp>
      <p:sp>
        <p:nvSpPr>
          <p:cNvPr id="4" name="Text 2"/>
          <p:cNvSpPr/>
          <p:nvPr/>
        </p:nvSpPr>
        <p:spPr>
          <a:xfrm>
            <a:off x="647700" y="1886843"/>
            <a:ext cx="8005572" cy="303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92"/>
              </a:lnSpc>
              <a:buNone/>
            </a:pPr>
            <a:r>
              <a:rPr lang="en-US" sz="16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Prompt to Pipeline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47700" y="2323951"/>
            <a:ext cx="7848600" cy="231636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00150" y="2438251"/>
            <a:ext cx="7247763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Shane Lindsay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00150" y="3036391"/>
            <a:ext cx="7247763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s.lindsay@hull.ac.uk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00150" y="3634532"/>
            <a:ext cx="7247763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University of Hull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200150" y="4232672"/>
            <a:ext cx="7247763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github.com/shanelindsay/agentic-r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OVERVIEW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6799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agentic AI matters right now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Defining agents and their toolkit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Demo: reproducible research with agents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Patterns and practices you can reuse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SETTING THE STAGE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Pre-requisites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22664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Familiarity with LLM chatbots such as ChatGPT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 with R (ideas apply to Python and beyond)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 to explore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探索未至之境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- discovering what lies ahead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Agents Now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6799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Latest LLMs handle multi-step, tool-rich workflows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costs now fit student and lab budgets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Interfaces are accessible beyond specialist teams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already boost everyday research output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7700" y="3128665"/>
            <a:ext cx="7848600" cy="1060847"/>
          </a:xfrm>
          <a:prstGeom prst="roundRect">
            <a:avLst>
              <a:gd name="adj" fmla="val 14366"/>
            </a:avLst>
          </a:prstGeom>
          <a:solidFill>
            <a:srgbClr val="111F3B"/>
          </a:solidFill>
          <a:ln/>
          <a:effectLst>
            <a:outerShdw sx="100000" sy="100000" kx="0" ky="0" algn="bl" rotWithShape="0" blurRad="171450" dist="76200" dir="5400000">
              <a:srgbClr val="050c1a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76275" y="3128665"/>
            <a:ext cx="0" cy="1060847"/>
          </a:xfrm>
          <a:prstGeom prst="line">
            <a:avLst/>
          </a:prstGeom>
          <a:noFill/>
          <a:ln w="5715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3450" y="3300115"/>
            <a:ext cx="7480935" cy="71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28"/>
              </a:lnSpc>
              <a:buNone/>
            </a:pPr>
            <a:r>
              <a:rPr lang="en-US" sz="195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Provocation: By the end of 2025 nobody needs to code or launch SPSS ever again.</a:t>
            </a:r>
            <a:endParaRPr lang="en-US" sz="1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DEFINITIONS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an Agent?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6799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general-purpose LLM embedded in your computing environment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 and writes files, runs bash or PowerShell, calls APIs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Operates autonomously in scoped windows (approx. 20 minutes)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Searches, codes, executes, documents - linked into full research loops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PRACTICALITIES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It Cost?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6799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dial: fast and rough versus slow and precise runs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Heavy daily use approx. $200 per month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 schedules approx. $100 per month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 exploration approx. $20 per month, plus free starter tiers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ECOSYSTEM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Agent Platforms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86660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Codex (OpenAI), Claude Code (Anthropic), Gemini (Google), Cursor, Copilot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China: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Kimi K2, Qwen 3, GLM 4.5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Codex leads for capability, Claude Code 4.5 close, GLM or K2 offer best value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TRADE-OFFS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 and Perils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91543"/>
            <a:ext cx="3790950" cy="3462338"/>
          </a:xfrm>
          <a:prstGeom prst="roundRect">
            <a:avLst>
              <a:gd name="adj" fmla="val 4952"/>
            </a:avLst>
          </a:prstGeom>
          <a:solidFill>
            <a:srgbClr val="1B2A44"/>
          </a:solidFill>
          <a:ln/>
          <a:effectLst>
            <a:outerShdw sx="100000" sy="100000" kx="0" ky="0" algn="bl" rotWithShape="0" blurRad="228600" dist="95250" dir="5400000">
              <a:srgbClr val="050c1a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57250" y="1562993"/>
            <a:ext cx="34392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57250" y="1943993"/>
            <a:ext cx="3371850" cy="2030016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415"/>
              </a:lnSpc>
              <a:buSzPct val="100000"/>
              <a:buChar char="•"/>
            </a:pPr>
            <a:r>
              <a:rPr lang="en-US" sz="172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Accelerate routine analysis and reporting</a:t>
            </a:r>
            <a:endParaRPr lang="en-US" sz="1725" dirty="0"/>
          </a:p>
          <a:p>
            <a:pPr algn="l" marL="152400" indent="-152400">
              <a:lnSpc>
                <a:spcPts val="2415"/>
              </a:lnSpc>
              <a:buSzPct val="100000"/>
              <a:buChar char="•"/>
            </a:pPr>
            <a:r>
              <a:rPr lang="en-US" sz="172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 what individuals and small teams can deliver</a:t>
            </a:r>
            <a:endParaRPr lang="en-US" sz="1725" dirty="0"/>
          </a:p>
          <a:p>
            <a:pPr algn="l" marL="152400" indent="-152400">
              <a:lnSpc>
                <a:spcPts val="2415"/>
              </a:lnSpc>
              <a:buSzPct val="100000"/>
              <a:buChar char="•"/>
            </a:pPr>
            <a:r>
              <a:rPr lang="en-US" sz="172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 activation energy for ambitious workflows</a:t>
            </a:r>
            <a:endParaRPr lang="en-US" sz="1725" dirty="0"/>
          </a:p>
        </p:txBody>
      </p:sp>
      <p:sp>
        <p:nvSpPr>
          <p:cNvPr id="7" name="Text 5"/>
          <p:cNvSpPr/>
          <p:nvPr/>
        </p:nvSpPr>
        <p:spPr>
          <a:xfrm>
            <a:off x="4705350" y="1391543"/>
            <a:ext cx="3790950" cy="3462338"/>
          </a:xfrm>
          <a:prstGeom prst="roundRect">
            <a:avLst>
              <a:gd name="adj" fmla="val 4952"/>
            </a:avLst>
          </a:prstGeom>
          <a:solidFill>
            <a:srgbClr val="1B2A44"/>
          </a:solidFill>
          <a:ln/>
          <a:effectLst>
            <a:outerShdw sx="100000" sy="100000" kx="0" ky="0" algn="bl" rotWithShape="0" blurRad="228600" dist="95250" dir="5400000">
              <a:srgbClr val="050c1a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14900" y="1562993"/>
            <a:ext cx="34392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14900" y="1943993"/>
            <a:ext cx="3371850" cy="2738438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415"/>
              </a:lnSpc>
              <a:buSzPct val="100000"/>
              <a:buChar char="•"/>
            </a:pPr>
            <a:r>
              <a:rPr lang="en-US" sz="172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Hallucinations and silent errors still happen</a:t>
            </a:r>
            <a:endParaRPr lang="en-US" sz="1725" dirty="0"/>
          </a:p>
          <a:p>
            <a:pPr algn="l" marL="152400" indent="-152400">
              <a:lnSpc>
                <a:spcPts val="2415"/>
              </a:lnSpc>
              <a:buSzPct val="100000"/>
              <a:buChar char="•"/>
            </a:pPr>
            <a:r>
              <a:rPr lang="en-US" sz="172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of diffusing responsibility and losing oversight</a:t>
            </a:r>
            <a:endParaRPr lang="en-US" sz="1725" dirty="0"/>
          </a:p>
          <a:p>
            <a:pPr algn="l" marL="152400" indent="-152400">
              <a:lnSpc>
                <a:spcPts val="2415"/>
              </a:lnSpc>
              <a:buSzPct val="100000"/>
              <a:buChar char="•"/>
            </a:pPr>
            <a:r>
              <a:rPr lang="en-US" sz="172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 atrophy when agents replace deliberate practice</a:t>
            </a:r>
            <a:endParaRPr lang="en-US" sz="1725" dirty="0"/>
          </a:p>
          <a:p>
            <a:pPr algn="l" marL="152400" indent="-152400">
              <a:lnSpc>
                <a:spcPts val="2415"/>
              </a:lnSpc>
              <a:buSzPct val="100000"/>
              <a:buChar char="•"/>
            </a:pPr>
            <a:r>
              <a:rPr lang="en-US" sz="1725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operational complexity and tech debt</a:t>
            </a:r>
            <a:endParaRPr lang="en-US" sz="17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MINDSET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With Agents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6799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 agents like new lab members: eager, fast, occasionally wrong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 projects so someone new can run them end to end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guardrails: approvals, time limits, failure modes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 in project hygiene - structure unlocks reliable automation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PRINCIPLES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Reproducible Research?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213330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Enable peers to verify findings and build on your work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Increase transparency, reduce hidden biases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 errors earlier via shared, reviewable workflows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Preserve institutional knowledge beyond any one researcher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 with funder and journal expectations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SYNERGY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Loves Reproducibility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54662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Pipelines document the journey: plan -&gt; execute -&gt; review -&gt; share -&gt; rerun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outputs mean agents can refresh manuscripts safely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Text-based artefacts make diffing, auditing, and PR review trivial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PATTERNS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Code Structure Evolves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54662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Monolithic scripts: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fast to start, fragile, opaque when something breaks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Numbered scripts: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clearer modularity, easier to rerun sections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 pipelines: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explicit dependencies, deterministic outputs - press go to reach the manuscript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INFRASTRUCTURE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Containers &amp; Predictability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22664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Containers give every run the same starting point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are stateless - containerised runs keep them grounded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a colleague can run the repo from docs, an agent can too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COLLABORATION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+ Agents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22664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 history protects work and surfaces diffs automatically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operate via CLI; humans can review in IDE or web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requests keep you in the approval loop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STUDY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Inside agentic-r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6799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AGENTS.md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is the handbook for humans and agents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dev/run-in-env.sh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wraps R sessions with micromamba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environment.yml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pins R version and packages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sequences scripts for deterministic builds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Overview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6799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Makefile orchestrates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01_prepare.R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then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02_model.R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flows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raw -&gt; processed -&gt; results/metrics.yml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Quarto report reads results for publication-ready prose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run everything via the environment wrapper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STUDY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Lexical Decision in Chinese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4132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Wang et al. (2025) Simplified Chinese Lexicon Project. </a:t>
            </a:r>
            <a:pPr algn="l" indent="0" marL="0">
              <a:lnSpc>
                <a:spcPts val="2520"/>
              </a:lnSpc>
              <a:buNone/>
            </a:pPr>
            <a:r>
              <a:rPr lang="en-US" sz="1800" i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Research Methods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 et al. (2018) Chinese Lexical Database. </a:t>
            </a:r>
            <a:pPr algn="l" indent="0" marL="0">
              <a:lnSpc>
                <a:spcPts val="2520"/>
              </a:lnSpc>
              <a:buNone/>
            </a:pPr>
            <a:r>
              <a:rPr lang="en-US" sz="1800" i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Research Methods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7700" y="2861965"/>
            <a:ext cx="7848600" cy="1043880"/>
          </a:xfrm>
          <a:prstGeom prst="roundRect">
            <a:avLst>
              <a:gd name="adj" fmla="val 16424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71450" dist="76200" dir="5400000">
              <a:srgbClr val="050c1a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76300" y="3052465"/>
            <a:ext cx="7539228" cy="66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start by running the baseline pipeline to reproduce </a:t>
            </a:r>
            <a:pPr algn="l" indent="0" marL="0">
              <a:lnSpc>
                <a:spcPts val="261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results/metrics.yml</a:t>
            </a:r>
            <a:pPr algn="l" indent="0" marL="0">
              <a:lnSpc>
                <a:spcPts val="261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DEMO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 Pattern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6799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Prompt: add a predictor and rerun the report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invokes wrapper scripts and Makefile targets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regenerates outputs and report in minutes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 showcases exactly what changed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DEMO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 Review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22664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second agent reads the diff and writes a review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reviews the agent's comments and approves or requests changes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Iterative loop maintains velocity and oversight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PLAYBOOK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Patterns to Copy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67997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proposes and implements code changes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Checker: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audits diffs, reruns tests, validates outputs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recommends diagnostics or tests when needed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Human: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remains final approver and ethical backstop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7700" y="457200"/>
            <a:ext cx="800557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350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47700" y="781943"/>
            <a:ext cx="80055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to Start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7700" y="1315343"/>
            <a:ext cx="7848600" cy="122664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one pipeline stage - cleaning, modelling, or reporting - and script it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tasks atomic so agents (and collaborators) can slot in</a:t>
            </a:r>
            <a:endParaRPr lang="en-US" sz="1800" dirty="0"/>
          </a:p>
          <a:p>
            <a:pPr algn="l" marL="152400" indent="-152400">
              <a:lnSpc>
                <a:spcPts val="2520"/>
              </a:lnSpc>
              <a:buSzPct val="100000"/>
              <a:buChar char="•"/>
            </a:pPr>
            <a:r>
              <a:rPr lang="en-US" sz="1800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outputs in version control for transparent reviews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Hull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Reproducible Language Science</dc:title>
  <dc:subject>Agent Talk</dc:subject>
  <dc:creator>Shane Lindsay</dc:creator>
  <cp:lastModifiedBy>Shane Lindsay</cp:lastModifiedBy>
  <cp:revision>1</cp:revision>
  <dcterms:created xsi:type="dcterms:W3CDTF">2025-11-01T19:10:36Z</dcterms:created>
  <dcterms:modified xsi:type="dcterms:W3CDTF">2025-11-01T19:10:36Z</dcterms:modified>
</cp:coreProperties>
</file>